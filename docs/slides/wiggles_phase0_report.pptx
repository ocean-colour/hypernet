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0a covers the single VEIT sequence Kevin sent. Everything here is one sequence from one instrument: a lead, not a result. Phase 0b repeats it on the ~150 requested 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Kevin's eq. 14 uses the E SRF on both sides, so it fixes grid offsets but not a width mismatch. Putting the L-SRF-convolved model in the numerator handles both; equal SRFs recover eq. 14, and a flat model recovers linear interpolation.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code is in the hypernet package: srf.py, whn_l1a.py, whn_srf.py, refspec.py, and the Phase 0 scripts in hypernet/wiggles/. 55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first-look scripts had Ld and Lu swapped; the plan table headers are corrected. Because the scan scatter is broadband, raw std/sqrt(N) overstates the per-pixel error 7-14x; we use scatter after removing a smooth scale per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Gaussian fits of each solar line in the mean E, Ld and Lu spectra, weighted by the flattened scan scatter. Filled symbols are clean lines, open ones blends. The quadratic fits have chi2_nu 5-26 because each line has its own intrinsic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spectra of 6 scans per channel. Errors from curve_fit with absolute sigma = flattened scan-to-scan error of the mean. Ld is the sky view, Lu the water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line fitted in each of the 6 scans per channel. Panels: FWHM and centroid scan std over median fit error; Ld minus Lu FWHM; L/E depth (open) and equivalent width (filled). Lu is 0.16-0.33 nm wider at Ca H and the G band, plausibly water-leaving content; Ld is the reference L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 filling-in would lower both depth and equivalent width. EW ratios of 0.94-1.09 leave room for at most a few per cent of filling. In Lu the red EW ratios fall to 0.64-0.85, suggesting an additive line-free component there (stray light or dark).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residual profiles in Ld/Ed with the H1 (linear minus cubic interpolation) and H2 (E line re-observed at the L width, equivalent width conserved) predictions. Then rms per line for the ratios and for rho_w, and alpha2, the fraction of the H2 profile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Weighted means over the SRF lines. What it establishes: the residual is what the width difference gives with equivalent width conserved (no Ring needed), the rho_w wiggle has the H2 shape, and interpolation has the wrong sign. The independent tests are the Phase 1 twin experiment and the Phase 3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Relative residual after a linear continuum through the pixels 5-7 nm from the line. Measured quantities are exactly those the processor divides: Ld interpolated in time over Ed linearly interpolated onto the L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HSRS v2 in air convolved with a Gaussian SRF, fitted in 27 windows of 10 nm over 390-880 nm with telluric bands excluded. Constrained over 390-680 and 850-870 nm only. The empirical widths were 0.3-0.5 nm too large. These models are shipped as hypernet/data/veit_srf_model.json for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G0(a): if FWHM_E = FWHM_L on most instruments, drop H2. G0(b): spread below 0.2 nm across SZA, sky, season and no unexplained jump at recalibration means a per-instrument SRF table. G0(c): offsets above 0.1 nm mean a wavelength recalibration first. On the air scale all three channels are within 0.1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request has been sent. The delivery runs through phase0b_index, phase0b_fit_all, phase0b_stability, phase0b_budget and phase0b_calfiles, then gate G0.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731520" y="155448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Spectral wiggles in WATERHYPERNET</a:t>
            </a:r>
            <a:endParaRPr lang="en-US" sz="4400" dirty="0"/>
          </a:p>
        </p:txBody>
      </p:sp>
      <p:sp>
        <p:nvSpPr>
          <p:cNvPr id="3" name="Text 1"/>
          <p:cNvSpPr txBox="1"/>
          <p:nvPr/>
        </p:nvSpPr>
        <p:spPr>
          <a:xfrm>
            <a:off x="731520" y="2560320"/>
            <a:ext cx="10515600" cy="1097280"/>
          </a:xfrm>
          <a:prstGeom prst="rect">
            <a:avLst/>
          </a:prstGeom>
          <a:noFill/>
          <a:ln/>
        </p:spPr>
        <p:txBody>
          <a:bodyPr wrap="square" lIns="0" tIns="0" rIns="0" bIns="0" rtlCol="0" anchor="ctr"/>
          <a:lstStyle/>
          <a:p>
            <a:pPr indent="0" marL="0">
              <a:buNone/>
            </a:pPr>
            <a:r>
              <a:rPr lang="en-US" sz="2600" dirty="0">
                <a:solidFill>
                  <a:srgbClr val="CFE3E6"/>
                </a:solidFill>
                <a:latin typeface="Calibri" pitchFamily="34" charset="0"/>
                <a:ea typeface="Calibri" pitchFamily="34" charset="-122"/>
                <a:cs typeface="Calibri" pitchFamily="34" charset="-120"/>
              </a:rPr>
              <a:t>Phase 0a report: what one VEIT sequence tells us about the E and L spectral response functions</a:t>
            </a:r>
            <a:endParaRPr lang="en-US" sz="2600" dirty="0"/>
          </a:p>
        </p:txBody>
      </p:sp>
      <p:sp>
        <p:nvSpPr>
          <p:cNvPr id="4" name="Text 2"/>
          <p:cNvSpPr txBox="1"/>
          <p:nvPr/>
        </p:nvSpPr>
        <p:spPr>
          <a:xfrm>
            <a:off x="731520" y="4023360"/>
            <a:ext cx="10972800" cy="45720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HYPSTAR 122304 · VEIT · 2026-06-04 08:45 (SEQ20260604T084543)</a:t>
            </a:r>
            <a:endParaRPr lang="en-US" sz="2200" dirty="0"/>
          </a:p>
        </p:txBody>
      </p:sp>
      <p:sp>
        <p:nvSpPr>
          <p:cNvPr id="5" name="Text 3"/>
          <p:cNvSpPr txBox="1"/>
          <p:nvPr/>
        </p:nvSpPr>
        <p:spPr>
          <a:xfrm>
            <a:off x="731520" y="5394960"/>
            <a:ext cx="10972800" cy="457200"/>
          </a:xfrm>
          <a:prstGeom prst="rect">
            <a:avLst/>
          </a:prstGeom>
          <a:noFill/>
          <a:ln/>
        </p:spPr>
        <p:txBody>
          <a:bodyPr wrap="square" lIns="0" tIns="0" rIns="0" bIns="0" rtlCol="0" anchor="ctr"/>
          <a:lstStyle/>
          <a:p>
            <a:pPr indent="0" marL="0">
              <a:buNone/>
            </a:pPr>
            <a:r>
              <a:rPr lang="en-US" sz="2000" dirty="0">
                <a:solidFill>
                  <a:srgbClr val="CFE3E6"/>
                </a:solidFill>
                <a:latin typeface="Calibri" pitchFamily="34" charset="0"/>
                <a:ea typeface="Calibri" pitchFamily="34" charset="-122"/>
                <a:cs typeface="Calibri" pitchFamily="34" charset="-120"/>
              </a:rPr>
              <a:t>J. Xavier Prochaska · UC Santa Cruz · 29 September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Two explanations for the wiggles in ρw</a:t>
            </a:r>
            <a:endParaRPr lang="en-US" sz="3600" dirty="0"/>
          </a:p>
        </p:txBody>
      </p:sp>
      <p:sp>
        <p:nvSpPr>
          <p:cNvPr id="3" name="Shape 1"/>
          <p:cNvSpPr/>
          <p:nvPr/>
        </p:nvSpPr>
        <p:spPr>
          <a:xfrm>
            <a:off x="457200" y="1463040"/>
            <a:ext cx="5394960" cy="3840480"/>
          </a:xfrm>
          <a:prstGeom prst="roundRect">
            <a:avLst>
              <a:gd name="adj" fmla="val 2857"/>
            </a:avLst>
          </a:prstGeom>
          <a:solidFill>
            <a:srgbClr val="E6F0F1"/>
          </a:solidFill>
          <a:ln w="12700">
            <a:solidFill>
              <a:srgbClr val="E6F0F1"/>
            </a:solidFill>
            <a:prstDash val="solid"/>
          </a:ln>
        </p:spPr>
      </p:sp>
      <p:sp>
        <p:nvSpPr>
          <p:cNvPr id="4" name="Shape 2"/>
          <p:cNvSpPr/>
          <p:nvPr/>
        </p:nvSpPr>
        <p:spPr>
          <a:xfrm>
            <a:off x="777240" y="1783080"/>
            <a:ext cx="822960" cy="822960"/>
          </a:xfrm>
          <a:prstGeom prst="ellipse">
            <a:avLst/>
          </a:prstGeom>
          <a:solidFill>
            <a:srgbClr val="13505B"/>
          </a:solidFill>
          <a:ln w="12700">
            <a:solidFill>
              <a:srgbClr val="13505B"/>
            </a:solidFill>
            <a:prstDash val="solid"/>
          </a:ln>
        </p:spPr>
      </p:sp>
      <p:sp>
        <p:nvSpPr>
          <p:cNvPr id="5" name="Text 3"/>
          <p:cNvSpPr txBox="1"/>
          <p:nvPr/>
        </p:nvSpPr>
        <p:spPr>
          <a:xfrm>
            <a:off x="777240" y="17830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H1</a:t>
            </a:r>
            <a:endParaRPr lang="en-US" sz="2400" dirty="0"/>
          </a:p>
        </p:txBody>
      </p:sp>
      <p:sp>
        <p:nvSpPr>
          <p:cNvPr id="6" name="Text 4"/>
          <p:cNvSpPr txBox="1"/>
          <p:nvPr/>
        </p:nvSpPr>
        <p:spPr>
          <a:xfrm>
            <a:off x="1783080" y="1783080"/>
            <a:ext cx="3840480" cy="822960"/>
          </a:xfrm>
          <a:prstGeom prst="rect">
            <a:avLst/>
          </a:prstGeom>
          <a:noFill/>
          <a:ln/>
        </p:spPr>
        <p:txBody>
          <a:bodyPr wrap="square" lIns="0" tIns="0" rIns="0" bIns="0" rtlCol="0" anchor="ctr"/>
          <a:lstStyle/>
          <a:p>
            <a:pPr indent="0" marL="0">
              <a:buNone/>
            </a:pPr>
            <a:r>
              <a:rPr lang="en-US" sz="2600" b="1" dirty="0">
                <a:solidFill>
                  <a:srgbClr val="1F2A30"/>
                </a:solidFill>
                <a:latin typeface="Cambria" pitchFamily="34" charset="0"/>
                <a:ea typeface="Cambria" pitchFamily="34" charset="-122"/>
                <a:cs typeface="Cambria" pitchFamily="34" charset="-120"/>
              </a:rPr>
              <a:t>Interpolation (Kevin)</a:t>
            </a:r>
            <a:endParaRPr lang="en-US" sz="2600" dirty="0"/>
          </a:p>
        </p:txBody>
      </p:sp>
      <p:sp>
        <p:nvSpPr>
          <p:cNvPr id="7" name="Text 5"/>
          <p:cNvSpPr txBox="1"/>
          <p:nvPr/>
        </p:nvSpPr>
        <p:spPr>
          <a:xfrm>
            <a:off x="777240" y="2926080"/>
            <a:ext cx="4754880" cy="2194560"/>
          </a:xfrm>
          <a:prstGeom prst="rect">
            <a:avLst/>
          </a:prstGeom>
          <a:noFill/>
          <a:ln/>
        </p:spPr>
        <p:txBody>
          <a:bodyPr wrap="square" lIns="635" tIns="635" rIns="635" bIns="635" rtlCol="0" anchor="t"/>
          <a:lstStyle/>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E and L sit on different grids</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Linear interpolation of Ed onto the L grid mis-represents the Fraunhofer lines</a:t>
            </a:r>
            <a:endParaRPr lang="en-US" sz="2200" dirty="0"/>
          </a:p>
        </p:txBody>
      </p:sp>
      <p:sp>
        <p:nvSpPr>
          <p:cNvPr id="8" name="Shape 6"/>
          <p:cNvSpPr/>
          <p:nvPr/>
        </p:nvSpPr>
        <p:spPr>
          <a:xfrm>
            <a:off x="6217920" y="1463040"/>
            <a:ext cx="5394960" cy="3840480"/>
          </a:xfrm>
          <a:prstGeom prst="roundRect">
            <a:avLst>
              <a:gd name="adj" fmla="val 2857"/>
            </a:avLst>
          </a:prstGeom>
          <a:solidFill>
            <a:srgbClr val="E6F0F1"/>
          </a:solidFill>
          <a:ln w="12700">
            <a:solidFill>
              <a:srgbClr val="E6F0F1"/>
            </a:solidFill>
            <a:prstDash val="solid"/>
          </a:ln>
        </p:spPr>
      </p:sp>
      <p:sp>
        <p:nvSpPr>
          <p:cNvPr id="9" name="Shape 7"/>
          <p:cNvSpPr/>
          <p:nvPr/>
        </p:nvSpPr>
        <p:spPr>
          <a:xfrm>
            <a:off x="6537960" y="1783080"/>
            <a:ext cx="822960" cy="822960"/>
          </a:xfrm>
          <a:prstGeom prst="ellipse">
            <a:avLst/>
          </a:prstGeom>
          <a:solidFill>
            <a:srgbClr val="D9542C"/>
          </a:solidFill>
          <a:ln w="12700">
            <a:solidFill>
              <a:srgbClr val="D9542C"/>
            </a:solidFill>
            <a:prstDash val="solid"/>
          </a:ln>
        </p:spPr>
      </p:sp>
      <p:sp>
        <p:nvSpPr>
          <p:cNvPr id="10" name="Text 8"/>
          <p:cNvSpPr txBox="1"/>
          <p:nvPr/>
        </p:nvSpPr>
        <p:spPr>
          <a:xfrm>
            <a:off x="6537960" y="17830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H2</a:t>
            </a:r>
            <a:endParaRPr lang="en-US" sz="2400" dirty="0"/>
          </a:p>
        </p:txBody>
      </p:sp>
      <p:sp>
        <p:nvSpPr>
          <p:cNvPr id="11" name="Text 9"/>
          <p:cNvSpPr txBox="1"/>
          <p:nvPr/>
        </p:nvSpPr>
        <p:spPr>
          <a:xfrm>
            <a:off x="7543800" y="1783080"/>
            <a:ext cx="3840480" cy="822960"/>
          </a:xfrm>
          <a:prstGeom prst="rect">
            <a:avLst/>
          </a:prstGeom>
          <a:noFill/>
          <a:ln/>
        </p:spPr>
        <p:txBody>
          <a:bodyPr wrap="square" lIns="0" tIns="0" rIns="0" bIns="0" rtlCol="0" anchor="ctr"/>
          <a:lstStyle/>
          <a:p>
            <a:pPr indent="0" marL="0">
              <a:buNone/>
            </a:pPr>
            <a:r>
              <a:rPr lang="en-US" sz="2600" b="1" dirty="0">
                <a:solidFill>
                  <a:srgbClr val="1F2A30"/>
                </a:solidFill>
                <a:latin typeface="Cambria" pitchFamily="34" charset="0"/>
                <a:ea typeface="Cambria" pitchFamily="34" charset="-122"/>
                <a:cs typeface="Cambria" pitchFamily="34" charset="-120"/>
              </a:rPr>
              <a:t>SRF mismatch (ours)</a:t>
            </a:r>
            <a:endParaRPr lang="en-US" sz="2600" dirty="0"/>
          </a:p>
        </p:txBody>
      </p:sp>
      <p:sp>
        <p:nvSpPr>
          <p:cNvPr id="12" name="Text 10"/>
          <p:cNvSpPr txBox="1"/>
          <p:nvPr/>
        </p:nvSpPr>
        <p:spPr>
          <a:xfrm>
            <a:off x="6537960" y="2926080"/>
            <a:ext cx="4754880" cy="2194560"/>
          </a:xfrm>
          <a:prstGeom prst="rect">
            <a:avLst/>
          </a:prstGeom>
          <a:noFill/>
          <a:ln/>
        </p:spPr>
        <p:txBody>
          <a:bodyPr wrap="square" lIns="635" tIns="635" rIns="635" bIns="635" rtlCol="0" anchor="t"/>
          <a:lstStyle/>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E and L take different optical paths</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Different line widths leave the lines in L/E, whatever the interpolation</a:t>
            </a:r>
            <a:endParaRPr lang="en-US" sz="2200" dirty="0"/>
          </a:p>
        </p:txBody>
      </p:sp>
      <p:sp>
        <p:nvSpPr>
          <p:cNvPr id="13" name="Text 11"/>
          <p:cNvSpPr txBox="1"/>
          <p:nvPr/>
        </p:nvSpPr>
        <p:spPr>
          <a:xfrm>
            <a:off x="457200" y="5669280"/>
            <a:ext cx="11277295" cy="548640"/>
          </a:xfrm>
          <a:prstGeom prst="rect">
            <a:avLst/>
          </a:prstGeom>
          <a:noFill/>
          <a:ln/>
        </p:spPr>
        <p:txBody>
          <a:bodyPr wrap="square" lIns="0" tIns="0" rIns="0" bIns="0" rtlCol="0" anchor="ctr"/>
          <a:lstStyle/>
          <a:p>
            <a:pPr indent="0" marL="0">
              <a:buNone/>
            </a:pPr>
            <a:r>
              <a:rPr lang="en-US" sz="2200" i="1" dirty="0">
                <a:solidFill>
                  <a:srgbClr val="4A5A60"/>
                </a:solidFill>
                <a:latin typeface="Calibri" pitchFamily="34" charset="0"/>
                <a:ea typeface="Calibri" pitchFamily="34" charset="-122"/>
                <a:cs typeface="Calibri" pitchFamily="34" charset="-120"/>
              </a:rPr>
              <a:t>Both are tested on one code path: a generalised Ruddick et al. (2023) eq. 14</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What Phase 0a built</a:t>
            </a:r>
            <a:endParaRPr lang="en-US" sz="3600" dirty="0"/>
          </a:p>
        </p:txBody>
      </p:sp>
      <p:sp>
        <p:nvSpPr>
          <p:cNvPr id="3" name="Shape 1"/>
          <p:cNvSpPr/>
          <p:nvPr/>
        </p:nvSpPr>
        <p:spPr>
          <a:xfrm>
            <a:off x="457200" y="1371600"/>
            <a:ext cx="777240" cy="777240"/>
          </a:xfrm>
          <a:prstGeom prst="ellipse">
            <a:avLst/>
          </a:prstGeom>
          <a:solidFill>
            <a:srgbClr val="13505B"/>
          </a:solidFill>
          <a:ln w="12700">
            <a:solidFill>
              <a:srgbClr val="13505B"/>
            </a:solidFill>
            <a:prstDash val="solid"/>
          </a:ln>
        </p:spPr>
      </p:sp>
      <p:sp>
        <p:nvSpPr>
          <p:cNvPr id="4" name="Text 2"/>
          <p:cNvSpPr txBox="1"/>
          <p:nvPr/>
        </p:nvSpPr>
        <p:spPr>
          <a:xfrm>
            <a:off x="457200" y="137160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508760" y="1371600"/>
            <a:ext cx="2377440" cy="77724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Read</a:t>
            </a:r>
            <a:endParaRPr lang="en-US" sz="2400" dirty="0"/>
          </a:p>
        </p:txBody>
      </p:sp>
      <p:sp>
        <p:nvSpPr>
          <p:cNvPr id="6" name="Text 4"/>
          <p:cNvSpPr txBox="1"/>
          <p:nvPr/>
        </p:nvSpPr>
        <p:spPr>
          <a:xfrm>
            <a:off x="3931920" y="1371600"/>
            <a:ext cx="7772400" cy="777240"/>
          </a:xfrm>
          <a:prstGeom prst="rect">
            <a:avLst/>
          </a:prstGeom>
          <a:noFill/>
          <a:ln/>
        </p:spPr>
        <p:txBody>
          <a:bodyPr wrap="square" lIns="0" tIns="0" rIns="0" bIns="0" rtlCol="0" anchor="ctr"/>
          <a:lstStyle/>
          <a:p>
            <a:pPr indent="0" marL="0">
              <a:buNone/>
            </a:pPr>
            <a:r>
              <a:rPr lang="en-US" sz="2200" dirty="0">
                <a:solidFill>
                  <a:srgbClr val="1F2A30"/>
                </a:solidFill>
                <a:latin typeface="Calibri" pitchFamily="34" charset="0"/>
                <a:ea typeface="Calibri" pitchFamily="34" charset="-122"/>
                <a:cs typeface="Calibri" pitchFamily="34" charset="-120"/>
              </a:rPr>
              <a:t>L1A/L1C/L2A readers, checked against the processor (whn_l1a)</a:t>
            </a:r>
            <a:endParaRPr lang="en-US" sz="2200" dirty="0"/>
          </a:p>
        </p:txBody>
      </p:sp>
      <p:sp>
        <p:nvSpPr>
          <p:cNvPr id="7" name="Shape 5"/>
          <p:cNvSpPr/>
          <p:nvPr/>
        </p:nvSpPr>
        <p:spPr>
          <a:xfrm>
            <a:off x="457200" y="2450592"/>
            <a:ext cx="777240" cy="777240"/>
          </a:xfrm>
          <a:prstGeom prst="ellipse">
            <a:avLst/>
          </a:prstGeom>
          <a:solidFill>
            <a:srgbClr val="13505B"/>
          </a:solidFill>
          <a:ln w="12700">
            <a:solidFill>
              <a:srgbClr val="13505B"/>
            </a:solidFill>
            <a:prstDash val="solid"/>
          </a:ln>
        </p:spPr>
      </p:sp>
      <p:sp>
        <p:nvSpPr>
          <p:cNvPr id="8" name="Text 6"/>
          <p:cNvSpPr txBox="1"/>
          <p:nvPr/>
        </p:nvSpPr>
        <p:spPr>
          <a:xfrm>
            <a:off x="457200" y="2450592"/>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1508760" y="2450592"/>
            <a:ext cx="2377440" cy="77724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Fit lines</a:t>
            </a:r>
            <a:endParaRPr lang="en-US" sz="2400" dirty="0"/>
          </a:p>
        </p:txBody>
      </p:sp>
      <p:sp>
        <p:nvSpPr>
          <p:cNvPr id="10" name="Text 8"/>
          <p:cNvSpPr txBox="1"/>
          <p:nvPr/>
        </p:nvSpPr>
        <p:spPr>
          <a:xfrm>
            <a:off x="3931920" y="2450592"/>
            <a:ext cx="7772400" cy="777240"/>
          </a:xfrm>
          <a:prstGeom prst="rect">
            <a:avLst/>
          </a:prstGeom>
          <a:noFill/>
          <a:ln/>
        </p:spPr>
        <p:txBody>
          <a:bodyPr wrap="square" lIns="0" tIns="0" rIns="0" bIns="0" rtlCol="0" anchor="ctr"/>
          <a:lstStyle/>
          <a:p>
            <a:pPr indent="0" marL="0">
              <a:buNone/>
            </a:pPr>
            <a:r>
              <a:rPr lang="en-US" sz="2200" dirty="0">
                <a:solidFill>
                  <a:srgbClr val="1F2A30"/>
                </a:solidFill>
                <a:latin typeface="Calibri" pitchFamily="34" charset="0"/>
                <a:ea typeface="Calibri" pitchFamily="34" charset="-122"/>
                <a:cs typeface="Calibri" pitchFamily="34" charset="-120"/>
              </a:rPr>
              <a:t>Gaussian fits of 13 solar lines in E, Ld, Lu; FWHM(λ) models (srf)</a:t>
            </a:r>
            <a:endParaRPr lang="en-US" sz="2200" dirty="0"/>
          </a:p>
        </p:txBody>
      </p:sp>
      <p:sp>
        <p:nvSpPr>
          <p:cNvPr id="11" name="Shape 9"/>
          <p:cNvSpPr/>
          <p:nvPr/>
        </p:nvSpPr>
        <p:spPr>
          <a:xfrm>
            <a:off x="457200" y="3529584"/>
            <a:ext cx="777240" cy="777240"/>
          </a:xfrm>
          <a:prstGeom prst="ellipse">
            <a:avLst/>
          </a:prstGeom>
          <a:solidFill>
            <a:srgbClr val="13505B"/>
          </a:solidFill>
          <a:ln w="12700">
            <a:solidFill>
              <a:srgbClr val="13505B"/>
            </a:solidFill>
            <a:prstDash val="solid"/>
          </a:ln>
        </p:spPr>
      </p:sp>
      <p:sp>
        <p:nvSpPr>
          <p:cNvPr id="12" name="Text 10"/>
          <p:cNvSpPr txBox="1"/>
          <p:nvPr/>
        </p:nvSpPr>
        <p:spPr>
          <a:xfrm>
            <a:off x="457200" y="3529584"/>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1508760" y="3529584"/>
            <a:ext cx="2377440" cy="77724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Template SRF</a:t>
            </a:r>
            <a:endParaRPr lang="en-US" sz="2400" dirty="0"/>
          </a:p>
        </p:txBody>
      </p:sp>
      <p:sp>
        <p:nvSpPr>
          <p:cNvPr id="14" name="Text 12"/>
          <p:cNvSpPr txBox="1"/>
          <p:nvPr/>
        </p:nvSpPr>
        <p:spPr>
          <a:xfrm>
            <a:off x="3931920" y="3529584"/>
            <a:ext cx="7772400" cy="777240"/>
          </a:xfrm>
          <a:prstGeom prst="rect">
            <a:avLst/>
          </a:prstGeom>
          <a:noFill/>
          <a:ln/>
        </p:spPr>
        <p:txBody>
          <a:bodyPr wrap="square" lIns="0" tIns="0" rIns="0" bIns="0" rtlCol="0" anchor="ctr"/>
          <a:lstStyle/>
          <a:p>
            <a:pPr indent="0" marL="0">
              <a:buNone/>
            </a:pPr>
            <a:r>
              <a:rPr lang="en-US" sz="2200" dirty="0">
                <a:solidFill>
                  <a:srgbClr val="1F2A30"/>
                </a:solidFill>
                <a:latin typeface="Calibri" pitchFamily="34" charset="0"/>
                <a:ea typeface="Calibri" pitchFamily="34" charset="-122"/>
                <a:cs typeface="Calibri" pitchFamily="34" charset="-120"/>
              </a:rPr>
              <a:t>TSIS-1 HSRS × Gaussian SRF in 10 nm windows (refspec, srf)</a:t>
            </a:r>
            <a:endParaRPr lang="en-US" sz="2200" dirty="0"/>
          </a:p>
        </p:txBody>
      </p:sp>
      <p:sp>
        <p:nvSpPr>
          <p:cNvPr id="15" name="Shape 13"/>
          <p:cNvSpPr/>
          <p:nvPr/>
        </p:nvSpPr>
        <p:spPr>
          <a:xfrm>
            <a:off x="457200" y="4608576"/>
            <a:ext cx="777240" cy="777240"/>
          </a:xfrm>
          <a:prstGeom prst="ellipse">
            <a:avLst/>
          </a:prstGeom>
          <a:solidFill>
            <a:srgbClr val="13505B"/>
          </a:solidFill>
          <a:ln w="12700">
            <a:solidFill>
              <a:srgbClr val="13505B"/>
            </a:solidFill>
            <a:prstDash val="solid"/>
          </a:ln>
        </p:spPr>
      </p:sp>
      <p:sp>
        <p:nvSpPr>
          <p:cNvPr id="16" name="Text 14"/>
          <p:cNvSpPr txBox="1"/>
          <p:nvPr/>
        </p:nvSpPr>
        <p:spPr>
          <a:xfrm>
            <a:off x="457200" y="4608576"/>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7" name="Text 15"/>
          <p:cNvSpPr txBox="1"/>
          <p:nvPr/>
        </p:nvSpPr>
        <p:spPr>
          <a:xfrm>
            <a:off x="1508760" y="4608576"/>
            <a:ext cx="2377440" cy="77724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Budget</a:t>
            </a:r>
            <a:endParaRPr lang="en-US" sz="2400" dirty="0"/>
          </a:p>
        </p:txBody>
      </p:sp>
      <p:sp>
        <p:nvSpPr>
          <p:cNvPr id="18" name="Text 16"/>
          <p:cNvSpPr txBox="1"/>
          <p:nvPr/>
        </p:nvSpPr>
        <p:spPr>
          <a:xfrm>
            <a:off x="3931920" y="4608576"/>
            <a:ext cx="7772400" cy="777240"/>
          </a:xfrm>
          <a:prstGeom prst="rect">
            <a:avLst/>
          </a:prstGeom>
          <a:noFill/>
          <a:ln/>
        </p:spPr>
        <p:txBody>
          <a:bodyPr wrap="square" lIns="0" tIns="0" rIns="0" bIns="0" rtlCol="0" anchor="ctr"/>
          <a:lstStyle/>
          <a:p>
            <a:pPr indent="0" marL="0">
              <a:buNone/>
            </a:pPr>
            <a:r>
              <a:rPr lang="en-US" sz="2200" dirty="0">
                <a:solidFill>
                  <a:srgbClr val="1F2A30"/>
                </a:solidFill>
                <a:latin typeface="Calibri" pitchFamily="34" charset="0"/>
                <a:ea typeface="Calibri" pitchFamily="34" charset="-122"/>
                <a:cs typeface="Calibri" pitchFamily="34" charset="-120"/>
              </a:rPr>
              <a:t>Residual line structure vs the H1 and H2 predictions</a:t>
            </a:r>
            <a:endParaRPr lang="en-US" sz="2200" dirty="0"/>
          </a:p>
        </p:txBody>
      </p:sp>
      <p:sp>
        <p:nvSpPr>
          <p:cNvPr id="19" name="Shape 17"/>
          <p:cNvSpPr/>
          <p:nvPr/>
        </p:nvSpPr>
        <p:spPr>
          <a:xfrm>
            <a:off x="457200" y="5760720"/>
            <a:ext cx="11277295" cy="731520"/>
          </a:xfrm>
          <a:prstGeom prst="roundRect">
            <a:avLst>
              <a:gd name="adj" fmla="val 12500"/>
            </a:avLst>
          </a:prstGeom>
          <a:solidFill>
            <a:srgbClr val="E6F0F1"/>
          </a:solidFill>
          <a:ln w="12700">
            <a:solidFill>
              <a:srgbClr val="E6F0F1"/>
            </a:solidFill>
            <a:prstDash val="solid"/>
          </a:ln>
        </p:spPr>
      </p:sp>
      <p:sp>
        <p:nvSpPr>
          <p:cNvPr id="20" name="Text 18"/>
          <p:cNvSpPr txBox="1"/>
          <p:nvPr/>
        </p:nvSpPr>
        <p:spPr>
          <a:xfrm>
            <a:off x="731520" y="5760720"/>
            <a:ext cx="10728655" cy="731520"/>
          </a:xfrm>
          <a:prstGeom prst="rect">
            <a:avLst/>
          </a:prstGeom>
          <a:noFill/>
          <a:ln/>
        </p:spPr>
        <p:txBody>
          <a:bodyPr wrap="square" lIns="0" tIns="0" rIns="0" bIns="0" rtlCol="0" anchor="ctr"/>
          <a:lstStyle/>
          <a:p>
            <a:pPr indent="0" marL="0">
              <a:buNone/>
            </a:pPr>
            <a:r>
              <a:rPr lang="en-US" sz="2200" b="1" dirty="0">
                <a:solidFill>
                  <a:srgbClr val="13505B"/>
                </a:solidFill>
                <a:latin typeface="Calibri" pitchFamily="34" charset="0"/>
                <a:ea typeface="Calibri" pitchFamily="34" charset="-122"/>
                <a:cs typeface="Calibri" pitchFamily="34" charset="-120"/>
              </a:rPr>
              <a:t>Phase 0b pipeline (tasks 9–13) written and tested on VEIT; waiting on the L1A delivery</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Four things the VEIT files taught us</a:t>
            </a:r>
            <a:endParaRPr lang="en-US" sz="3600" dirty="0"/>
          </a:p>
        </p:txBody>
      </p:sp>
      <p:sp>
        <p:nvSpPr>
          <p:cNvPr id="3" name="Shape 1"/>
          <p:cNvSpPr/>
          <p:nvPr/>
        </p:nvSpPr>
        <p:spPr>
          <a:xfrm>
            <a:off x="457200" y="1371600"/>
            <a:ext cx="5394960" cy="2240280"/>
          </a:xfrm>
          <a:prstGeom prst="roundRect">
            <a:avLst>
              <a:gd name="adj" fmla="val 4898"/>
            </a:avLst>
          </a:prstGeom>
          <a:solidFill>
            <a:srgbClr val="E6F0F1"/>
          </a:solidFill>
          <a:ln w="12700">
            <a:solidFill>
              <a:srgbClr val="E6F0F1"/>
            </a:solidFill>
            <a:prstDash val="solid"/>
          </a:ln>
        </p:spPr>
      </p:sp>
      <p:sp>
        <p:nvSpPr>
          <p:cNvPr id="4" name="Text 2"/>
          <p:cNvSpPr txBox="1"/>
          <p:nvPr/>
        </p:nvSpPr>
        <p:spPr>
          <a:xfrm>
            <a:off x="777240" y="1600200"/>
            <a:ext cx="4754880" cy="914400"/>
          </a:xfrm>
          <a:prstGeom prst="rect">
            <a:avLst/>
          </a:prstGeom>
          <a:noFill/>
          <a:ln/>
        </p:spPr>
        <p:txBody>
          <a:bodyPr wrap="square" lIns="0" tIns="0" rIns="0" bIns="0" rtlCol="0" anchor="ctr"/>
          <a:lstStyle/>
          <a:p>
            <a:pPr indent="0" marL="0">
              <a:buNone/>
            </a:pPr>
            <a:r>
              <a:rPr lang="en-US" sz="4000" b="1" dirty="0">
                <a:solidFill>
                  <a:srgbClr val="D9542C"/>
                </a:solidFill>
                <a:latin typeface="Cambria" pitchFamily="34" charset="0"/>
                <a:ea typeface="Cambria" pitchFamily="34" charset="-122"/>
                <a:cs typeface="Cambria" pitchFamily="34" charset="-120"/>
              </a:rPr>
              <a:t>vza &lt; 90</a:t>
            </a:r>
            <a:endParaRPr lang="en-US" sz="4000" dirty="0"/>
          </a:p>
        </p:txBody>
      </p:sp>
      <p:sp>
        <p:nvSpPr>
          <p:cNvPr id="5" name="Text 3"/>
          <p:cNvSpPr txBox="1"/>
          <p:nvPr/>
        </p:nvSpPr>
        <p:spPr>
          <a:xfrm>
            <a:off x="777240" y="2560320"/>
            <a:ext cx="4754880" cy="914400"/>
          </a:xfrm>
          <a:prstGeom prst="rect">
            <a:avLst/>
          </a:prstGeom>
          <a:noFill/>
          <a:ln/>
        </p:spPr>
        <p:txBody>
          <a:bodyPr wrap="square" lIns="0" tIns="0" rIns="0" bIns="0" rtlCol="0" anchor="t"/>
          <a:lstStyle/>
          <a:p>
            <a:pPr indent="0" marL="0">
              <a:buNone/>
            </a:pPr>
            <a:r>
              <a:rPr lang="en-US" sz="2200" dirty="0">
                <a:solidFill>
                  <a:srgbClr val="1F2A30"/>
                </a:solidFill>
                <a:latin typeface="Calibri" pitchFamily="34" charset="0"/>
                <a:ea typeface="Calibri" pitchFamily="34" charset="-122"/>
                <a:cs typeface="Calibri" pitchFamily="34" charset="-120"/>
              </a:rPr>
              <a:t>is the water view (Lu): vza is measured from nadir</a:t>
            </a:r>
            <a:endParaRPr lang="en-US" sz="2200" dirty="0"/>
          </a:p>
        </p:txBody>
      </p:sp>
      <p:sp>
        <p:nvSpPr>
          <p:cNvPr id="6" name="Shape 4"/>
          <p:cNvSpPr/>
          <p:nvPr/>
        </p:nvSpPr>
        <p:spPr>
          <a:xfrm>
            <a:off x="6217920" y="1371600"/>
            <a:ext cx="5394960" cy="2240280"/>
          </a:xfrm>
          <a:prstGeom prst="roundRect">
            <a:avLst>
              <a:gd name="adj" fmla="val 4898"/>
            </a:avLst>
          </a:prstGeom>
          <a:solidFill>
            <a:srgbClr val="E6F0F1"/>
          </a:solidFill>
          <a:ln w="12700">
            <a:solidFill>
              <a:srgbClr val="E6F0F1"/>
            </a:solidFill>
            <a:prstDash val="solid"/>
          </a:ln>
        </p:spPr>
      </p:sp>
      <p:sp>
        <p:nvSpPr>
          <p:cNvPr id="7" name="Text 5"/>
          <p:cNvSpPr txBox="1"/>
          <p:nvPr/>
        </p:nvSpPr>
        <p:spPr>
          <a:xfrm>
            <a:off x="6537960" y="1600200"/>
            <a:ext cx="4754880" cy="914400"/>
          </a:xfrm>
          <a:prstGeom prst="rect">
            <a:avLst/>
          </a:prstGeom>
          <a:noFill/>
          <a:ln/>
        </p:spPr>
        <p:txBody>
          <a:bodyPr wrap="square" lIns="0" tIns="0" rIns="0" bIns="0" rtlCol="0" anchor="ctr"/>
          <a:lstStyle/>
          <a:p>
            <a:pPr indent="0" marL="0">
              <a:buNone/>
            </a:pPr>
            <a:r>
              <a:rPr lang="en-US" sz="4000" b="1" dirty="0">
                <a:solidFill>
                  <a:srgbClr val="D9542C"/>
                </a:solidFill>
                <a:latin typeface="Cambria" pitchFamily="34" charset="0"/>
                <a:ea typeface="Cambria" pitchFamily="34" charset="-122"/>
                <a:cs typeface="Cambria" pitchFamily="34" charset="-120"/>
              </a:rPr>
              <a:t>interpolated</a:t>
            </a:r>
            <a:endParaRPr lang="en-US" sz="4000" dirty="0"/>
          </a:p>
        </p:txBody>
      </p:sp>
      <p:sp>
        <p:nvSpPr>
          <p:cNvPr id="8" name="Text 6"/>
          <p:cNvSpPr txBox="1"/>
          <p:nvPr/>
        </p:nvSpPr>
        <p:spPr>
          <a:xfrm>
            <a:off x="6537960" y="2560320"/>
            <a:ext cx="4754880" cy="914400"/>
          </a:xfrm>
          <a:prstGeom prst="rect">
            <a:avLst/>
          </a:prstGeom>
          <a:noFill/>
          <a:ln/>
        </p:spPr>
        <p:txBody>
          <a:bodyPr wrap="square" lIns="0" tIns="0" rIns="0" bIns="0" rtlCol="0" anchor="t"/>
          <a:lstStyle/>
          <a:p>
            <a:pPr indent="0" marL="0">
              <a:buNone/>
            </a:pPr>
            <a:r>
              <a:rPr lang="en-US" sz="2200" dirty="0">
                <a:solidFill>
                  <a:srgbClr val="1F2A30"/>
                </a:solidFill>
                <a:latin typeface="Calibri" pitchFamily="34" charset="0"/>
                <a:ea typeface="Calibri" pitchFamily="34" charset="-122"/>
                <a:cs typeface="Calibri" pitchFamily="34" charset="-120"/>
              </a:rPr>
              <a:t>L1C Ld: the two sky series, interpolated to the water-view time</a:t>
            </a:r>
            <a:endParaRPr lang="en-US" sz="2200" dirty="0"/>
          </a:p>
        </p:txBody>
      </p:sp>
      <p:sp>
        <p:nvSpPr>
          <p:cNvPr id="9" name="Shape 7"/>
          <p:cNvSpPr/>
          <p:nvPr/>
        </p:nvSpPr>
        <p:spPr>
          <a:xfrm>
            <a:off x="457200" y="3886200"/>
            <a:ext cx="5394960" cy="2240280"/>
          </a:xfrm>
          <a:prstGeom prst="roundRect">
            <a:avLst>
              <a:gd name="adj" fmla="val 4898"/>
            </a:avLst>
          </a:prstGeom>
          <a:solidFill>
            <a:srgbClr val="E6F0F1"/>
          </a:solidFill>
          <a:ln w="12700">
            <a:solidFill>
              <a:srgbClr val="E6F0F1"/>
            </a:solidFill>
            <a:prstDash val="solid"/>
          </a:ln>
        </p:spPr>
      </p:sp>
      <p:sp>
        <p:nvSpPr>
          <p:cNvPr id="10" name="Text 8"/>
          <p:cNvSpPr txBox="1"/>
          <p:nvPr/>
        </p:nvSpPr>
        <p:spPr>
          <a:xfrm>
            <a:off x="777240" y="4114800"/>
            <a:ext cx="4754880" cy="914400"/>
          </a:xfrm>
          <a:prstGeom prst="rect">
            <a:avLst/>
          </a:prstGeom>
          <a:noFill/>
          <a:ln/>
        </p:spPr>
        <p:txBody>
          <a:bodyPr wrap="square" lIns="0" tIns="0" rIns="0" bIns="0" rtlCol="0" anchor="ctr"/>
          <a:lstStyle/>
          <a:p>
            <a:pPr indent="0" marL="0">
              <a:buNone/>
            </a:pPr>
            <a:r>
              <a:rPr lang="en-US" sz="4000" b="1" dirty="0">
                <a:solidFill>
                  <a:srgbClr val="D9542C"/>
                </a:solidFill>
                <a:latin typeface="Cambria" pitchFamily="34" charset="0"/>
                <a:ea typeface="Cambria" pitchFamily="34" charset="-122"/>
                <a:cs typeface="Cambria" pitchFamily="34" charset="-120"/>
              </a:rPr>
              <a:t>0</a:t>
            </a:r>
            <a:endParaRPr lang="en-US" sz="4000" dirty="0"/>
          </a:p>
        </p:txBody>
      </p:sp>
      <p:sp>
        <p:nvSpPr>
          <p:cNvPr id="11" name="Text 9"/>
          <p:cNvSpPr txBox="1"/>
          <p:nvPr/>
        </p:nvSpPr>
        <p:spPr>
          <a:xfrm>
            <a:off x="777240" y="5074920"/>
            <a:ext cx="4754880" cy="914400"/>
          </a:xfrm>
          <a:prstGeom prst="rect">
            <a:avLst/>
          </a:prstGeom>
          <a:noFill/>
          <a:ln/>
        </p:spPr>
        <p:txBody>
          <a:bodyPr wrap="square" lIns="0" tIns="0" rIns="0" bIns="0" rtlCol="0" anchor="t"/>
          <a:lstStyle/>
          <a:p>
            <a:pPr indent="0" marL="0">
              <a:buNone/>
            </a:pPr>
            <a:r>
              <a:rPr lang="en-US" sz="2200" dirty="0">
                <a:solidFill>
                  <a:srgbClr val="1F2A30"/>
                </a:solidFill>
                <a:latin typeface="Calibri" pitchFamily="34" charset="0"/>
                <a:ea typeface="Calibri" pitchFamily="34" charset="-122"/>
                <a:cs typeface="Calibri" pitchFamily="34" charset="-120"/>
              </a:rPr>
              <a:t>every L1C u_rel_random value: a placeholder, not an uncertainty</a:t>
            </a:r>
            <a:endParaRPr lang="en-US" sz="2200" dirty="0"/>
          </a:p>
        </p:txBody>
      </p:sp>
      <p:sp>
        <p:nvSpPr>
          <p:cNvPr id="12" name="Shape 10"/>
          <p:cNvSpPr/>
          <p:nvPr/>
        </p:nvSpPr>
        <p:spPr>
          <a:xfrm>
            <a:off x="6217920" y="3886200"/>
            <a:ext cx="5394960" cy="2240280"/>
          </a:xfrm>
          <a:prstGeom prst="roundRect">
            <a:avLst>
              <a:gd name="adj" fmla="val 4898"/>
            </a:avLst>
          </a:prstGeom>
          <a:solidFill>
            <a:srgbClr val="E6F0F1"/>
          </a:solidFill>
          <a:ln w="12700">
            <a:solidFill>
              <a:srgbClr val="E6F0F1"/>
            </a:solidFill>
            <a:prstDash val="solid"/>
          </a:ln>
        </p:spPr>
      </p:sp>
      <p:sp>
        <p:nvSpPr>
          <p:cNvPr id="13" name="Text 11"/>
          <p:cNvSpPr txBox="1"/>
          <p:nvPr/>
        </p:nvSpPr>
        <p:spPr>
          <a:xfrm>
            <a:off x="6537960" y="4114800"/>
            <a:ext cx="4754880" cy="914400"/>
          </a:xfrm>
          <a:prstGeom prst="rect">
            <a:avLst/>
          </a:prstGeom>
          <a:noFill/>
          <a:ln/>
        </p:spPr>
        <p:txBody>
          <a:bodyPr wrap="square" lIns="0" tIns="0" rIns="0" bIns="0" rtlCol="0" anchor="ctr"/>
          <a:lstStyle/>
          <a:p>
            <a:pPr indent="0" marL="0">
              <a:buNone/>
            </a:pPr>
            <a:r>
              <a:rPr lang="en-US" sz="4000" b="1" dirty="0">
                <a:solidFill>
                  <a:srgbClr val="D9542C"/>
                </a:solidFill>
                <a:latin typeface="Cambria" pitchFamily="34" charset="0"/>
                <a:ea typeface="Cambria" pitchFamily="34" charset="-122"/>
                <a:cs typeface="Cambria" pitchFamily="34" charset="-120"/>
              </a:rPr>
              <a:t>5 % vs 0.4 %</a:t>
            </a:r>
            <a:endParaRPr lang="en-US" sz="4000" dirty="0"/>
          </a:p>
        </p:txBody>
      </p:sp>
      <p:sp>
        <p:nvSpPr>
          <p:cNvPr id="14" name="Text 12"/>
          <p:cNvSpPr txBox="1"/>
          <p:nvPr/>
        </p:nvSpPr>
        <p:spPr>
          <a:xfrm>
            <a:off x="6537960" y="5074920"/>
            <a:ext cx="4754880" cy="914400"/>
          </a:xfrm>
          <a:prstGeom prst="rect">
            <a:avLst/>
          </a:prstGeom>
          <a:noFill/>
          <a:ln/>
        </p:spPr>
        <p:txBody>
          <a:bodyPr wrap="square" lIns="0" tIns="0" rIns="0" bIns="0" rtlCol="0" anchor="t"/>
          <a:lstStyle/>
          <a:p>
            <a:pPr indent="0" marL="0">
              <a:buNone/>
            </a:pPr>
            <a:r>
              <a:rPr lang="en-US" sz="2200" dirty="0">
                <a:solidFill>
                  <a:srgbClr val="1F2A30"/>
                </a:solidFill>
                <a:latin typeface="Calibri" pitchFamily="34" charset="0"/>
                <a:ea typeface="Calibri" pitchFamily="34" charset="-122"/>
                <a:cs typeface="Calibri" pitchFamily="34" charset="-120"/>
              </a:rPr>
              <a:t>broadband scan-to-scan change vs per-pixel noise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L lines are wider than E lines (task 5)</a:t>
            </a:r>
            <a:endParaRPr lang="en-US" sz="3600" dirty="0"/>
          </a:p>
        </p:txBody>
      </p:sp>
      <p:pic>
        <p:nvPicPr>
          <p:cNvPr id="3" name="Image 0" descr="/Users/xavier/Oceanography/python/hypernet/hypernet/wiggles/figs/phase0/veit_fwhm_vs_lambda.png">    </p:cNvPr>
          <p:cNvPicPr>
            <a:picLocks noChangeAspect="1"/>
          </p:cNvPicPr>
          <p:nvPr/>
        </p:nvPicPr>
        <p:blipFill>
          <a:blip r:embed="rId1"/>
          <a:stretch>
            <a:fillRect/>
          </a:stretch>
        </p:blipFill>
        <p:spPr>
          <a:xfrm>
            <a:off x="457200" y="1234440"/>
            <a:ext cx="5448964" cy="5303520"/>
          </a:xfrm>
          <a:prstGeom prst="rect">
            <a:avLst/>
          </a:prstGeom>
        </p:spPr>
      </p:pic>
      <p:sp>
        <p:nvSpPr>
          <p:cNvPr id="4" name="Text 1"/>
          <p:cNvSpPr txBox="1"/>
          <p:nvPr/>
        </p:nvSpPr>
        <p:spPr>
          <a:xfrm>
            <a:off x="6271924" y="1371600"/>
            <a:ext cx="5462571" cy="4937760"/>
          </a:xfrm>
          <a:prstGeom prst="rect">
            <a:avLst/>
          </a:prstGeom>
          <a:noFill/>
          <a:ln/>
        </p:spPr>
        <p:txBody>
          <a:bodyPr wrap="square" lIns="635" tIns="635" rIns="635" bIns="635" rtlCol="0" anchor="t"/>
          <a:lstStyle/>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Ld − E: +0.4 to +0.6 nm from 430 to 590 nm, each line at 5–15σ</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The gap closes to the red: ~0.1 nm at Ca II 854–866</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Ld and Lu agree: one L SRF</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Gaussian line widths, FWHM in nm (task 5)</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914400"/>
        </p:xfrm>
        <a:graphic>
          <a:graphicData uri="http://schemas.openxmlformats.org/drawingml/2006/table">
            <a:tbl>
              <a:tblPr/>
              <a:tblGrid>
                <a:gridCol w="2743200"/>
                <a:gridCol w="1463040"/>
                <a:gridCol w="1463040"/>
                <a:gridCol w="1463040"/>
                <a:gridCol w="2377440"/>
                <a:gridCol w="1764792"/>
              </a:tblGrid>
              <a:tr h="4572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Line</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E</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Ld</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Lu</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Ld − E</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Signif.</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Ca K 393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2.67</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3.08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2.99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+0.41 ± 0.03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12σ</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G band 431</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2.49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3.08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3.24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+0.59 ± 0.04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15σ</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Hβ 486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2.98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3.46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3.38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+0.49 ± 0.06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8σ</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Mg b 517</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3.06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3.52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3.60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+0.46 ± 0.09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5σ</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Na D 589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2.66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3.13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3.09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+0.47 ± 0.08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6σ</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Hα 656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2.77</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2.93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3.08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+0.16 ± 0.06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3σ</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Ca II 854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2.80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2.90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2.69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+0.11 ± 0.10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1σ</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Ca II 866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2.69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2.85</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2.61</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+0.16 ± 0.11</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1σ</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5669280"/>
            <a:ext cx="11277295" cy="45720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These widths include each line's own profile; the template fit removes it</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Per-scan fits check the errors (task 6)</a:t>
            </a:r>
            <a:endParaRPr lang="en-US" sz="3600" dirty="0"/>
          </a:p>
        </p:txBody>
      </p:sp>
      <p:pic>
        <p:nvPicPr>
          <p:cNvPr id="3" name="Image 0" descr="/Users/xavier/Oceanography/python/hypernet/hypernet/wiggles/figs/phase0/veit_scan_scatter.png">    </p:cNvPr>
          <p:cNvPicPr>
            <a:picLocks noChangeAspect="1"/>
          </p:cNvPicPr>
          <p:nvPr/>
        </p:nvPicPr>
        <p:blipFill>
          <a:blip r:embed="rId1"/>
          <a:stretch>
            <a:fillRect/>
          </a:stretch>
        </p:blipFill>
        <p:spPr>
          <a:xfrm>
            <a:off x="457200" y="1188720"/>
            <a:ext cx="4608351" cy="5440680"/>
          </a:xfrm>
          <a:prstGeom prst="rect">
            <a:avLst/>
          </a:prstGeom>
        </p:spPr>
      </p:pic>
      <p:sp>
        <p:nvSpPr>
          <p:cNvPr id="4" name="Text 1"/>
          <p:cNvSpPr txBox="1"/>
          <p:nvPr/>
        </p:nvSpPr>
        <p:spPr>
          <a:xfrm>
            <a:off x="5431311" y="1371600"/>
            <a:ext cx="6303184" cy="5120640"/>
          </a:xfrm>
          <a:prstGeom prst="rect">
            <a:avLst/>
          </a:prstGeom>
          <a:noFill/>
          <a:ln/>
        </p:spPr>
        <p:txBody>
          <a:bodyPr wrap="square" lIns="635" tIns="635" rIns="635" bIns="635" rtlCol="0" anchor="t"/>
          <a:lstStyle/>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Scan spread ≈ fit error: the error model is right</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Widths steady between the two sky series, 50 s apart</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Ld = Lu to about 0.1 nm at the clean lines</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L lines 10–17 % shallower, but same equivalent width: resolution, not Ring</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Scan scatter, Ld vs Lu, and the Ring check (task 6)</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914400"/>
        </p:xfrm>
        <a:graphic>
          <a:graphicData uri="http://schemas.openxmlformats.org/drawingml/2006/table">
            <a:tbl>
              <a:tblPr/>
              <a:tblGrid>
                <a:gridCol w="2560320"/>
                <a:gridCol w="2651760"/>
                <a:gridCol w="2377440"/>
                <a:gridCol w="1847088"/>
                <a:gridCol w="1837944"/>
              </a:tblGrid>
              <a:tr h="4572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Line</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Ld scan std / fit err</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Ld − Lu (nm)</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Depth Ld/E</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EW Ld/E</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Ca K 393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+0.08 ± 0.06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0.86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0.99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G band 431</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-0.15 ± 0.07</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0.84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Hβ 486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+0.08 ± 0.10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0.91</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1.06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Mg b 517</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-0.08 ± 0.12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0.90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1.04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Na D 589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+0.04 ± 0.10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0.92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1.09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Hα 656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-0.15 ± 0.10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0.89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0.94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Ca II 854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0.5</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+0.21 ± 0.22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0.99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Ca II 866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+0.24 ± 0.41</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0.94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0.99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5669280"/>
            <a:ext cx="11277295" cy="45720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EW Ld/E ≈ 1: a wider SRF lowers depth but keeps equivalent width</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H2 accounts for the line structure (task 7)</a:t>
            </a:r>
            <a:endParaRPr lang="en-US" sz="3600" dirty="0"/>
          </a:p>
        </p:txBody>
      </p:sp>
      <p:pic>
        <p:nvPicPr>
          <p:cNvPr id="3" name="Image 0" descr="/Users/xavier/Oceanography/python/hypernet/hypernet/wiggles/figs/phase0/veit_budget.png">    </p:cNvPr>
          <p:cNvPicPr>
            <a:picLocks noChangeAspect="1"/>
          </p:cNvPicPr>
          <p:nvPr/>
        </p:nvPicPr>
        <p:blipFill>
          <a:blip r:embed="rId1"/>
          <a:stretch>
            <a:fillRect/>
          </a:stretch>
        </p:blipFill>
        <p:spPr>
          <a:xfrm>
            <a:off x="457200" y="1188720"/>
            <a:ext cx="4268541" cy="5440680"/>
          </a:xfrm>
          <a:prstGeom prst="rect">
            <a:avLst/>
          </a:prstGeom>
        </p:spPr>
      </p:pic>
      <p:sp>
        <p:nvSpPr>
          <p:cNvPr id="4" name="Text 1"/>
          <p:cNvSpPr txBox="1"/>
          <p:nvPr/>
        </p:nvSpPr>
        <p:spPr>
          <a:xfrm>
            <a:off x="5091501" y="1371600"/>
            <a:ext cx="6642995" cy="5120640"/>
          </a:xfrm>
          <a:prstGeom prst="rect">
            <a:avLst/>
          </a:prstGeom>
          <a:noFill/>
          <a:ln/>
        </p:spPr>
        <p:txBody>
          <a:bodyPr wrap="square" lIns="635" tIns="635" rIns="635" bIns="635" rtlCol="0" anchor="t"/>
          <a:lstStyle/>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Measured Ld/Ed residual matches the H2 prediction in size and shape</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H1 is ~9× smaller and has the opposite sign</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ρw follows H2 from Ca H/K to Na D</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Fraction of the H2 profile present, α₂</a:t>
            </a:r>
            <a:endParaRPr lang="en-US" sz="3600" dirty="0"/>
          </a:p>
        </p:txBody>
      </p:sp>
      <p:sp>
        <p:nvSpPr>
          <p:cNvPr id="3" name="Shape 1"/>
          <p:cNvSpPr/>
          <p:nvPr/>
        </p:nvSpPr>
        <p:spPr>
          <a:xfrm>
            <a:off x="457200" y="1463040"/>
            <a:ext cx="3520440" cy="2651760"/>
          </a:xfrm>
          <a:prstGeom prst="roundRect">
            <a:avLst>
              <a:gd name="adj" fmla="val 4138"/>
            </a:avLst>
          </a:prstGeom>
          <a:solidFill>
            <a:srgbClr val="E6F0F1"/>
          </a:solidFill>
          <a:ln w="12700">
            <a:solidFill>
              <a:srgbClr val="E6F0F1"/>
            </a:solidFill>
            <a:prstDash val="solid"/>
          </a:ln>
        </p:spPr>
      </p:sp>
      <p:sp>
        <p:nvSpPr>
          <p:cNvPr id="4" name="Text 2"/>
          <p:cNvSpPr txBox="1"/>
          <p:nvPr/>
        </p:nvSpPr>
        <p:spPr>
          <a:xfrm>
            <a:off x="457200" y="1645920"/>
            <a:ext cx="3520440" cy="1280160"/>
          </a:xfrm>
          <a:prstGeom prst="rect">
            <a:avLst/>
          </a:prstGeom>
          <a:noFill/>
          <a:ln/>
        </p:spPr>
        <p:txBody>
          <a:bodyPr wrap="square" lIns="0" tIns="0" rIns="0" bIns="0" rtlCol="0" anchor="ctr"/>
          <a:lstStyle/>
          <a:p>
            <a:pPr algn="ctr" indent="0" marL="0">
              <a:buNone/>
            </a:pPr>
            <a:r>
              <a:rPr lang="en-US" sz="6600" b="1" dirty="0">
                <a:solidFill>
                  <a:srgbClr val="D9542C"/>
                </a:solidFill>
                <a:latin typeface="Cambria" pitchFamily="34" charset="0"/>
                <a:ea typeface="Cambria" pitchFamily="34" charset="-122"/>
                <a:cs typeface="Cambria" pitchFamily="34" charset="-120"/>
              </a:rPr>
              <a:t>0.93</a:t>
            </a:r>
            <a:endParaRPr lang="en-US" sz="6600" dirty="0"/>
          </a:p>
        </p:txBody>
      </p:sp>
      <p:sp>
        <p:nvSpPr>
          <p:cNvPr id="5" name="Text 3"/>
          <p:cNvSpPr txBox="1"/>
          <p:nvPr/>
        </p:nvSpPr>
        <p:spPr>
          <a:xfrm>
            <a:off x="457200" y="3017520"/>
            <a:ext cx="3520440" cy="731520"/>
          </a:xfrm>
          <a:prstGeom prst="rect">
            <a:avLst/>
          </a:prstGeom>
          <a:noFill/>
          <a:ln/>
        </p:spPr>
        <p:txBody>
          <a:bodyPr wrap="square" lIns="0" tIns="0" rIns="0" bIns="0" rtlCol="0" anchor="ctr"/>
          <a:lstStyle/>
          <a:p>
            <a:pPr algn="ctr" indent="0" marL="0">
              <a:buNone/>
            </a:pPr>
            <a:r>
              <a:rPr lang="en-US" sz="2400" dirty="0">
                <a:solidFill>
                  <a:srgbClr val="1F2A30"/>
                </a:solidFill>
                <a:latin typeface="Calibri" pitchFamily="34" charset="0"/>
                <a:ea typeface="Calibri" pitchFamily="34" charset="-122"/>
                <a:cs typeface="Calibri" pitchFamily="34" charset="-120"/>
              </a:rPr>
              <a:t>± 0.06   Ld / Ed</a:t>
            </a:r>
            <a:endParaRPr lang="en-US" sz="2400" dirty="0"/>
          </a:p>
        </p:txBody>
      </p:sp>
      <p:sp>
        <p:nvSpPr>
          <p:cNvPr id="6" name="Shape 4"/>
          <p:cNvSpPr/>
          <p:nvPr/>
        </p:nvSpPr>
        <p:spPr>
          <a:xfrm>
            <a:off x="4251960" y="1463040"/>
            <a:ext cx="3520440" cy="2651760"/>
          </a:xfrm>
          <a:prstGeom prst="roundRect">
            <a:avLst>
              <a:gd name="adj" fmla="val 4138"/>
            </a:avLst>
          </a:prstGeom>
          <a:solidFill>
            <a:srgbClr val="E6F0F1"/>
          </a:solidFill>
          <a:ln w="12700">
            <a:solidFill>
              <a:srgbClr val="E6F0F1"/>
            </a:solidFill>
            <a:prstDash val="solid"/>
          </a:ln>
        </p:spPr>
      </p:sp>
      <p:sp>
        <p:nvSpPr>
          <p:cNvPr id="7" name="Text 5"/>
          <p:cNvSpPr txBox="1"/>
          <p:nvPr/>
        </p:nvSpPr>
        <p:spPr>
          <a:xfrm>
            <a:off x="4251960" y="1645920"/>
            <a:ext cx="3520440" cy="1280160"/>
          </a:xfrm>
          <a:prstGeom prst="rect">
            <a:avLst/>
          </a:prstGeom>
          <a:noFill/>
          <a:ln/>
        </p:spPr>
        <p:txBody>
          <a:bodyPr wrap="square" lIns="0" tIns="0" rIns="0" bIns="0" rtlCol="0" anchor="ctr"/>
          <a:lstStyle/>
          <a:p>
            <a:pPr algn="ctr" indent="0" marL="0">
              <a:buNone/>
            </a:pPr>
            <a:r>
              <a:rPr lang="en-US" sz="6600" b="1" dirty="0">
                <a:solidFill>
                  <a:srgbClr val="D9542C"/>
                </a:solidFill>
                <a:latin typeface="Cambria" pitchFamily="34" charset="0"/>
                <a:ea typeface="Cambria" pitchFamily="34" charset="-122"/>
                <a:cs typeface="Cambria" pitchFamily="34" charset="-120"/>
              </a:rPr>
              <a:t>1.01</a:t>
            </a:r>
            <a:endParaRPr lang="en-US" sz="6600" dirty="0"/>
          </a:p>
        </p:txBody>
      </p:sp>
      <p:sp>
        <p:nvSpPr>
          <p:cNvPr id="8" name="Text 6"/>
          <p:cNvSpPr txBox="1"/>
          <p:nvPr/>
        </p:nvSpPr>
        <p:spPr>
          <a:xfrm>
            <a:off x="4251960" y="3017520"/>
            <a:ext cx="3520440" cy="731520"/>
          </a:xfrm>
          <a:prstGeom prst="rect">
            <a:avLst/>
          </a:prstGeom>
          <a:noFill/>
          <a:ln/>
        </p:spPr>
        <p:txBody>
          <a:bodyPr wrap="square" lIns="0" tIns="0" rIns="0" bIns="0" rtlCol="0" anchor="ctr"/>
          <a:lstStyle/>
          <a:p>
            <a:pPr algn="ctr" indent="0" marL="0">
              <a:buNone/>
            </a:pPr>
            <a:r>
              <a:rPr lang="en-US" sz="2400" dirty="0">
                <a:solidFill>
                  <a:srgbClr val="1F2A30"/>
                </a:solidFill>
                <a:latin typeface="Calibri" pitchFamily="34" charset="0"/>
                <a:ea typeface="Calibri" pitchFamily="34" charset="-122"/>
                <a:cs typeface="Calibri" pitchFamily="34" charset="-120"/>
              </a:rPr>
              <a:t>± 0.07   Lu / Ed</a:t>
            </a:r>
            <a:endParaRPr lang="en-US" sz="2400" dirty="0"/>
          </a:p>
        </p:txBody>
      </p:sp>
      <p:sp>
        <p:nvSpPr>
          <p:cNvPr id="9" name="Shape 7"/>
          <p:cNvSpPr/>
          <p:nvPr/>
        </p:nvSpPr>
        <p:spPr>
          <a:xfrm>
            <a:off x="8046720" y="1463040"/>
            <a:ext cx="3520440" cy="2651760"/>
          </a:xfrm>
          <a:prstGeom prst="roundRect">
            <a:avLst>
              <a:gd name="adj" fmla="val 4138"/>
            </a:avLst>
          </a:prstGeom>
          <a:solidFill>
            <a:srgbClr val="E6F0F1"/>
          </a:solidFill>
          <a:ln w="12700">
            <a:solidFill>
              <a:srgbClr val="E6F0F1"/>
            </a:solidFill>
            <a:prstDash val="solid"/>
          </a:ln>
        </p:spPr>
      </p:sp>
      <p:sp>
        <p:nvSpPr>
          <p:cNvPr id="10" name="Text 8"/>
          <p:cNvSpPr txBox="1"/>
          <p:nvPr/>
        </p:nvSpPr>
        <p:spPr>
          <a:xfrm>
            <a:off x="8046720" y="1645920"/>
            <a:ext cx="3520440" cy="1280160"/>
          </a:xfrm>
          <a:prstGeom prst="rect">
            <a:avLst/>
          </a:prstGeom>
          <a:noFill/>
          <a:ln/>
        </p:spPr>
        <p:txBody>
          <a:bodyPr wrap="square" lIns="0" tIns="0" rIns="0" bIns="0" rtlCol="0" anchor="ctr"/>
          <a:lstStyle/>
          <a:p>
            <a:pPr algn="ctr" indent="0" marL="0">
              <a:buNone/>
            </a:pPr>
            <a:r>
              <a:rPr lang="en-US" sz="6600" b="1" dirty="0">
                <a:solidFill>
                  <a:srgbClr val="D9542C"/>
                </a:solidFill>
                <a:latin typeface="Cambria" pitchFamily="34" charset="0"/>
                <a:ea typeface="Cambria" pitchFamily="34" charset="-122"/>
                <a:cs typeface="Cambria" pitchFamily="34" charset="-120"/>
              </a:rPr>
              <a:t>1.08</a:t>
            </a:r>
            <a:endParaRPr lang="en-US" sz="6600" dirty="0"/>
          </a:p>
        </p:txBody>
      </p:sp>
      <p:sp>
        <p:nvSpPr>
          <p:cNvPr id="11" name="Text 9"/>
          <p:cNvSpPr txBox="1"/>
          <p:nvPr/>
        </p:nvSpPr>
        <p:spPr>
          <a:xfrm>
            <a:off x="8046720" y="3017520"/>
            <a:ext cx="3520440" cy="731520"/>
          </a:xfrm>
          <a:prstGeom prst="rect">
            <a:avLst/>
          </a:prstGeom>
          <a:noFill/>
          <a:ln/>
        </p:spPr>
        <p:txBody>
          <a:bodyPr wrap="square" lIns="0" tIns="0" rIns="0" bIns="0" rtlCol="0" anchor="ctr"/>
          <a:lstStyle/>
          <a:p>
            <a:pPr algn="ctr" indent="0" marL="0">
              <a:buNone/>
            </a:pPr>
            <a:r>
              <a:rPr lang="en-US" sz="2400" dirty="0">
                <a:solidFill>
                  <a:srgbClr val="1F2A30"/>
                </a:solidFill>
                <a:latin typeface="Calibri" pitchFamily="34" charset="0"/>
                <a:ea typeface="Calibri" pitchFamily="34" charset="-122"/>
                <a:cs typeface="Calibri" pitchFamily="34" charset="-120"/>
              </a:rPr>
              <a:t>± 0.13   ρw</a:t>
            </a:r>
            <a:endParaRPr lang="en-US" sz="2400" dirty="0"/>
          </a:p>
        </p:txBody>
      </p:sp>
      <p:sp>
        <p:nvSpPr>
          <p:cNvPr id="12" name="Text 10"/>
          <p:cNvSpPr txBox="1"/>
          <p:nvPr/>
        </p:nvSpPr>
        <p:spPr>
          <a:xfrm>
            <a:off x="457200" y="4572000"/>
            <a:ext cx="11277295" cy="1737360"/>
          </a:xfrm>
          <a:prstGeom prst="rect">
            <a:avLst/>
          </a:prstGeom>
          <a:noFill/>
          <a:ln/>
        </p:spPr>
        <p:txBody>
          <a:bodyPr wrap="square" lIns="635" tIns="635" rIns="635" bIns="635" rtlCol="0" anchor="t"/>
          <a:lstStyle/>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1 = the SRF width mismatch alone explains the feature</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Caveat: partly circular, since H2 is built from fits to the same spectra</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rms residual within ±5 nm of each line (task 7)</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914400"/>
        </p:xfrm>
        <a:graphic>
          <a:graphicData uri="http://schemas.openxmlformats.org/drawingml/2006/table">
            <a:tbl>
              <a:tblPr/>
              <a:tblGrid>
                <a:gridCol w="2286000"/>
                <a:gridCol w="1920240"/>
                <a:gridCol w="1737360"/>
                <a:gridCol w="1737360"/>
                <a:gridCol w="1796796"/>
                <a:gridCol w="1796796"/>
              </a:tblGrid>
              <a:tr h="4572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Line</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Measured Ld/Ed</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H2 predicted</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H1 predicted</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α₂ Ld/Ed</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α₂ ρw</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Ca H/K 395</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2.7e-02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2.4e-02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2.7e-03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1.16 ± 0.11</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1.31 ± 0.20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G band 431</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1.7e-02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1.6e-02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1.3e-03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0.88 ± 0.17</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1.08 ± 0.28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Hβ 486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7.7e-03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8.0e-03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4.9e-05</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0.77 ± 0.12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0.99 ± 0.40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Mg b 517</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5.8e-03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5.7e-03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1.8e-04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0.84 ± 0.15</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0.71 ± 0.42</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Na D 589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5.8e-03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5.1e-03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5.6e-04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0.86 ± 0.23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0.29 ± 0.50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Hα 656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5.0e-03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2.7e-03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1.0e-03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1.52 ± 0.28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1.06 ± 1.91</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754880"/>
            <a:ext cx="11277295" cy="45720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H2 matches the measured residual; H1 falls 10–100× short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The SRF itself, from TSIS-1 HSRS (task 3b)</a:t>
            </a:r>
            <a:endParaRPr lang="en-US" sz="3600" dirty="0"/>
          </a:p>
        </p:txBody>
      </p:sp>
      <p:pic>
        <p:nvPicPr>
          <p:cNvPr id="3" name="Image 0" descr="/Users/xavier/Oceanography/python/hypernet/hypernet/wiggles/figs/phase0/veit_template_fwhm.png">    </p:cNvPr>
          <p:cNvPicPr>
            <a:picLocks noChangeAspect="1"/>
          </p:cNvPicPr>
          <p:nvPr/>
        </p:nvPicPr>
        <p:blipFill>
          <a:blip r:embed="rId1"/>
          <a:stretch>
            <a:fillRect/>
          </a:stretch>
        </p:blipFill>
        <p:spPr>
          <a:xfrm>
            <a:off x="457200" y="1188720"/>
            <a:ext cx="5261598" cy="544068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84558" y="1371600"/>
          <a:ext cx="5649937" cy="914400"/>
        </p:xfrm>
        <a:graphic>
          <a:graphicData uri="http://schemas.openxmlformats.org/drawingml/2006/table">
            <a:tbl>
              <a:tblPr/>
              <a:tblGrid>
                <a:gridCol w="1129987"/>
                <a:gridCol w="1129987"/>
                <a:gridCol w="1129987"/>
                <a:gridCol w="2259975"/>
              </a:tblGrid>
              <a:tr h="4572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λ (nm)</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E</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Ld</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Ld − E</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400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2.35</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2.88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+0.53 ± 0.04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500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2.23</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2.74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+0.50 ± 0.06</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600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2.21</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2.64</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+0.42 ± 0.08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700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2.28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2.58</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+0.30 ± 0.09</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850</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2.55</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2.57</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+0.02 ± 0.15</a:t>
                      </a:r>
                      <a:endParaRPr lang="en-US" sz="2000" dirty="0">
                        <a:latin typeface="Calibri" charset="0"/>
                        <a:ea typeface="Calibri" charset="0"/>
                        <a:cs typeface="Calibri" charset="0"/>
                      </a:endParaRPr>
                    </a:p>
                  </a:txBody>
                  <a:tcPr marL="91440" marR="91440" marT="36576" marB="36576"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bl>
          </a:graphicData>
        </a:graphic>
      </p:graphicFrame>
      <p:sp>
        <p:nvSpPr>
          <p:cNvPr id="5" name="Text 1"/>
          <p:cNvSpPr txBox="1"/>
          <p:nvPr/>
        </p:nvSpPr>
        <p:spPr>
          <a:xfrm>
            <a:off x="6084558" y="4572000"/>
            <a:ext cx="5649937" cy="1920240"/>
          </a:xfrm>
          <a:prstGeom prst="rect">
            <a:avLst/>
          </a:prstGeom>
          <a:noFill/>
          <a:ln/>
        </p:spPr>
        <p:txBody>
          <a:bodyPr wrap="square" lIns="635" tIns="635" rIns="635" bIns="635" rtlCol="0" anchor="t"/>
          <a:lstStyle/>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E ≈ 2.3 nm; Ld 0.5 nm wider in the blue</a:t>
            </a:r>
            <a:endParaRPr lang="en-US" sz="2200" dirty="0"/>
          </a:p>
          <a:p>
            <a:pPr marL="342900" indent="-342900">
              <a:spcAft>
                <a:spcPts val="1400"/>
              </a:spcAft>
              <a:buSzPct val="100000"/>
              <a:buChar char="•"/>
            </a:pPr>
            <a:r>
              <a:rPr lang="en-US" sz="2200" dirty="0">
                <a:solidFill>
                  <a:srgbClr val="1F2A30"/>
                </a:solidFill>
                <a:latin typeface="Calibri" pitchFamily="34" charset="0"/>
                <a:ea typeface="Calibri" pitchFamily="34" charset="-122"/>
                <a:cs typeface="Calibri" pitchFamily="34" charset="-120"/>
              </a:rPr>
              <a:t>Ld − E offset +0.045 ± 0.011 nm</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20040"/>
            <a:ext cx="11277295" cy="77724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Gate G0 on this one sequence</a:t>
            </a:r>
            <a:endParaRPr lang="en-US" sz="3600" dirty="0"/>
          </a:p>
        </p:txBody>
      </p:sp>
      <p:sp>
        <p:nvSpPr>
          <p:cNvPr id="3" name="Shape 1"/>
          <p:cNvSpPr/>
          <p:nvPr/>
        </p:nvSpPr>
        <p:spPr>
          <a:xfrm>
            <a:off x="457200" y="1371600"/>
            <a:ext cx="3520440" cy="3840480"/>
          </a:xfrm>
          <a:prstGeom prst="roundRect">
            <a:avLst>
              <a:gd name="adj" fmla="val 3117"/>
            </a:avLst>
          </a:prstGeom>
          <a:solidFill>
            <a:srgbClr val="E6F0F1"/>
          </a:solidFill>
          <a:ln w="12700">
            <a:solidFill>
              <a:srgbClr val="E6F0F1"/>
            </a:solidFill>
            <a:prstDash val="solid"/>
          </a:ln>
        </p:spPr>
      </p:sp>
      <p:sp>
        <p:nvSpPr>
          <p:cNvPr id="4" name="Shape 2"/>
          <p:cNvSpPr/>
          <p:nvPr/>
        </p:nvSpPr>
        <p:spPr>
          <a:xfrm>
            <a:off x="731520" y="1645920"/>
            <a:ext cx="731520" cy="731520"/>
          </a:xfrm>
          <a:prstGeom prst="ellipse">
            <a:avLst/>
          </a:prstGeom>
          <a:solidFill>
            <a:srgbClr val="13505B"/>
          </a:solidFill>
          <a:ln w="12700">
            <a:solidFill>
              <a:srgbClr val="13505B"/>
            </a:solidFill>
            <a:prstDash val="solid"/>
          </a:ln>
        </p:spPr>
      </p:sp>
      <p:sp>
        <p:nvSpPr>
          <p:cNvPr id="5" name="Text 3"/>
          <p:cNvSpPr txBox="1"/>
          <p:nvPr/>
        </p:nvSpPr>
        <p:spPr>
          <a:xfrm>
            <a:off x="731520" y="16459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6" name="Text 4"/>
          <p:cNvSpPr txBox="1"/>
          <p:nvPr/>
        </p:nvSpPr>
        <p:spPr>
          <a:xfrm>
            <a:off x="1600200" y="1645920"/>
            <a:ext cx="2194560" cy="73152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E = L?</a:t>
            </a:r>
            <a:endParaRPr lang="en-US" sz="2400" dirty="0"/>
          </a:p>
        </p:txBody>
      </p:sp>
      <p:sp>
        <p:nvSpPr>
          <p:cNvPr id="7" name="Text 5"/>
          <p:cNvSpPr txBox="1"/>
          <p:nvPr/>
        </p:nvSpPr>
        <p:spPr>
          <a:xfrm>
            <a:off x="731520" y="2606040"/>
            <a:ext cx="2971800" cy="731520"/>
          </a:xfrm>
          <a:prstGeom prst="rect">
            <a:avLst/>
          </a:prstGeom>
          <a:noFill/>
          <a:ln/>
        </p:spPr>
        <p:txBody>
          <a:bodyPr wrap="square" lIns="0" tIns="0" rIns="0" bIns="0" rtlCol="0" anchor="ctr"/>
          <a:lstStyle/>
          <a:p>
            <a:pPr indent="0" marL="0">
              <a:buNone/>
            </a:pPr>
            <a:r>
              <a:rPr lang="en-US" sz="2800" b="1" dirty="0">
                <a:solidFill>
                  <a:srgbClr val="D9542C"/>
                </a:solidFill>
                <a:latin typeface="Cambria" pitchFamily="34" charset="0"/>
                <a:ea typeface="Cambria" pitchFamily="34" charset="-122"/>
                <a:cs typeface="Cambria" pitchFamily="34" charset="-120"/>
              </a:rPr>
              <a:t>No: H2 stays</a:t>
            </a:r>
            <a:endParaRPr lang="en-US" sz="2800" dirty="0"/>
          </a:p>
        </p:txBody>
      </p:sp>
      <p:sp>
        <p:nvSpPr>
          <p:cNvPr id="8" name="Text 6"/>
          <p:cNvSpPr txBox="1"/>
          <p:nvPr/>
        </p:nvSpPr>
        <p:spPr>
          <a:xfrm>
            <a:off x="731520" y="3474720"/>
            <a:ext cx="2971800" cy="1554480"/>
          </a:xfrm>
          <a:prstGeom prst="rect">
            <a:avLst/>
          </a:prstGeom>
          <a:noFill/>
          <a:ln/>
        </p:spPr>
        <p:txBody>
          <a:bodyPr wrap="square" lIns="0" tIns="0" rIns="0" bIns="0" rtlCol="0" anchor="t"/>
          <a:lstStyle/>
          <a:p>
            <a:pPr indent="0" marL="0">
              <a:buNone/>
            </a:pPr>
            <a:r>
              <a:rPr lang="en-US" sz="2200" dirty="0">
                <a:solidFill>
                  <a:srgbClr val="1F2A30"/>
                </a:solidFill>
                <a:latin typeface="Calibri" pitchFamily="34" charset="0"/>
                <a:ea typeface="Calibri" pitchFamily="34" charset="-122"/>
                <a:cs typeface="Calibri" pitchFamily="34" charset="-120"/>
              </a:rPr>
              <a:t>Ld − E = 0.5 nm at 400–550 nm</a:t>
            </a:r>
            <a:endParaRPr lang="en-US" sz="2200" dirty="0"/>
          </a:p>
        </p:txBody>
      </p:sp>
      <p:sp>
        <p:nvSpPr>
          <p:cNvPr id="9" name="Shape 7"/>
          <p:cNvSpPr/>
          <p:nvPr/>
        </p:nvSpPr>
        <p:spPr>
          <a:xfrm>
            <a:off x="4251960" y="1371600"/>
            <a:ext cx="3520440" cy="3840480"/>
          </a:xfrm>
          <a:prstGeom prst="roundRect">
            <a:avLst>
              <a:gd name="adj" fmla="val 3117"/>
            </a:avLst>
          </a:prstGeom>
          <a:solidFill>
            <a:srgbClr val="E6F0F1"/>
          </a:solidFill>
          <a:ln w="12700">
            <a:solidFill>
              <a:srgbClr val="E6F0F1"/>
            </a:solidFill>
            <a:prstDash val="solid"/>
          </a:ln>
        </p:spPr>
      </p:sp>
      <p:sp>
        <p:nvSpPr>
          <p:cNvPr id="10" name="Shape 8"/>
          <p:cNvSpPr/>
          <p:nvPr/>
        </p:nvSpPr>
        <p:spPr>
          <a:xfrm>
            <a:off x="4526280" y="1645920"/>
            <a:ext cx="731520" cy="731520"/>
          </a:xfrm>
          <a:prstGeom prst="ellipse">
            <a:avLst/>
          </a:prstGeom>
          <a:solidFill>
            <a:srgbClr val="13505B"/>
          </a:solidFill>
          <a:ln w="12700">
            <a:solidFill>
              <a:srgbClr val="13505B"/>
            </a:solidFill>
            <a:prstDash val="solid"/>
          </a:ln>
        </p:spPr>
      </p:sp>
      <p:sp>
        <p:nvSpPr>
          <p:cNvPr id="11" name="Text 9"/>
          <p:cNvSpPr txBox="1"/>
          <p:nvPr/>
        </p:nvSpPr>
        <p:spPr>
          <a:xfrm>
            <a:off x="4526280" y="16459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2" name="Text 10"/>
          <p:cNvSpPr txBox="1"/>
          <p:nvPr/>
        </p:nvSpPr>
        <p:spPr>
          <a:xfrm>
            <a:off x="5394960" y="1645920"/>
            <a:ext cx="2194560" cy="73152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SRF stable?</a:t>
            </a:r>
            <a:endParaRPr lang="en-US" sz="2400" dirty="0"/>
          </a:p>
        </p:txBody>
      </p:sp>
      <p:sp>
        <p:nvSpPr>
          <p:cNvPr id="13" name="Text 11"/>
          <p:cNvSpPr txBox="1"/>
          <p:nvPr/>
        </p:nvSpPr>
        <p:spPr>
          <a:xfrm>
            <a:off x="4526280" y="2606040"/>
            <a:ext cx="2971800" cy="731520"/>
          </a:xfrm>
          <a:prstGeom prst="rect">
            <a:avLst/>
          </a:prstGeom>
          <a:noFill/>
          <a:ln/>
        </p:spPr>
        <p:txBody>
          <a:bodyPr wrap="square" lIns="0" tIns="0" rIns="0" bIns="0" rtlCol="0" anchor="ctr"/>
          <a:lstStyle/>
          <a:p>
            <a:pPr indent="0" marL="0">
              <a:buNone/>
            </a:pPr>
            <a:r>
              <a:rPr lang="en-US" sz="2800" b="1" dirty="0">
                <a:solidFill>
                  <a:srgbClr val="D9542C"/>
                </a:solidFill>
                <a:latin typeface="Cambria" pitchFamily="34" charset="0"/>
                <a:ea typeface="Cambria" pitchFamily="34" charset="-122"/>
                <a:cs typeface="Cambria" pitchFamily="34" charset="-120"/>
              </a:rPr>
              <a:t>Needs the data</a:t>
            </a:r>
            <a:endParaRPr lang="en-US" sz="2800" dirty="0"/>
          </a:p>
        </p:txBody>
      </p:sp>
      <p:sp>
        <p:nvSpPr>
          <p:cNvPr id="14" name="Text 12"/>
          <p:cNvSpPr txBox="1"/>
          <p:nvPr/>
        </p:nvSpPr>
        <p:spPr>
          <a:xfrm>
            <a:off x="4526280" y="3474720"/>
            <a:ext cx="2971800" cy="1554480"/>
          </a:xfrm>
          <a:prstGeom prst="rect">
            <a:avLst/>
          </a:prstGeom>
          <a:noFill/>
          <a:ln/>
        </p:spPr>
        <p:txBody>
          <a:bodyPr wrap="square" lIns="0" tIns="0" rIns="0" bIns="0" rtlCol="0" anchor="t"/>
          <a:lstStyle/>
          <a:p>
            <a:pPr indent="0" marL="0">
              <a:buNone/>
            </a:pPr>
            <a:r>
              <a:rPr lang="en-US" sz="2200" dirty="0">
                <a:solidFill>
                  <a:srgbClr val="1F2A30"/>
                </a:solidFill>
                <a:latin typeface="Calibri" pitchFamily="34" charset="0"/>
                <a:ea typeface="Calibri" pitchFamily="34" charset="-122"/>
                <a:cs typeface="Calibri" pitchFamily="34" charset="-120"/>
              </a:rPr>
              <a:t>Stable within one sequence; Phase 0b tests SZA, sky, season, recalibration</a:t>
            </a:r>
            <a:endParaRPr lang="en-US" sz="2200" dirty="0"/>
          </a:p>
        </p:txBody>
      </p:sp>
      <p:sp>
        <p:nvSpPr>
          <p:cNvPr id="15" name="Shape 13"/>
          <p:cNvSpPr/>
          <p:nvPr/>
        </p:nvSpPr>
        <p:spPr>
          <a:xfrm>
            <a:off x="8046720" y="1371600"/>
            <a:ext cx="3520440" cy="3840480"/>
          </a:xfrm>
          <a:prstGeom prst="roundRect">
            <a:avLst>
              <a:gd name="adj" fmla="val 3117"/>
            </a:avLst>
          </a:prstGeom>
          <a:solidFill>
            <a:srgbClr val="E6F0F1"/>
          </a:solidFill>
          <a:ln w="12700">
            <a:solidFill>
              <a:srgbClr val="E6F0F1"/>
            </a:solidFill>
            <a:prstDash val="solid"/>
          </a:ln>
        </p:spPr>
      </p:sp>
      <p:sp>
        <p:nvSpPr>
          <p:cNvPr id="16" name="Shape 14"/>
          <p:cNvSpPr/>
          <p:nvPr/>
        </p:nvSpPr>
        <p:spPr>
          <a:xfrm>
            <a:off x="8321040" y="1645920"/>
            <a:ext cx="731520" cy="731520"/>
          </a:xfrm>
          <a:prstGeom prst="ellipse">
            <a:avLst/>
          </a:prstGeom>
          <a:solidFill>
            <a:srgbClr val="13505B"/>
          </a:solidFill>
          <a:ln w="12700">
            <a:solidFill>
              <a:srgbClr val="13505B"/>
            </a:solidFill>
            <a:prstDash val="solid"/>
          </a:ln>
        </p:spPr>
      </p:sp>
      <p:sp>
        <p:nvSpPr>
          <p:cNvPr id="17" name="Text 15"/>
          <p:cNvSpPr txBox="1"/>
          <p:nvPr/>
        </p:nvSpPr>
        <p:spPr>
          <a:xfrm>
            <a:off x="8321040" y="16459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9189720" y="1645920"/>
            <a:ext cx="2194560" cy="73152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Offset?</a:t>
            </a:r>
            <a:endParaRPr lang="en-US" sz="2400" dirty="0"/>
          </a:p>
        </p:txBody>
      </p:sp>
      <p:sp>
        <p:nvSpPr>
          <p:cNvPr id="19" name="Text 17"/>
          <p:cNvSpPr txBox="1"/>
          <p:nvPr/>
        </p:nvSpPr>
        <p:spPr>
          <a:xfrm>
            <a:off x="8321040" y="2606040"/>
            <a:ext cx="2971800" cy="731520"/>
          </a:xfrm>
          <a:prstGeom prst="rect">
            <a:avLst/>
          </a:prstGeom>
          <a:noFill/>
          <a:ln/>
        </p:spPr>
        <p:txBody>
          <a:bodyPr wrap="square" lIns="0" tIns="0" rIns="0" bIns="0" rtlCol="0" anchor="ctr"/>
          <a:lstStyle/>
          <a:p>
            <a:pPr indent="0" marL="0">
              <a:buNone/>
            </a:pPr>
            <a:r>
              <a:rPr lang="en-US" sz="2800" b="1" dirty="0">
                <a:solidFill>
                  <a:srgbClr val="D9542C"/>
                </a:solidFill>
                <a:latin typeface="Cambria" pitchFamily="34" charset="0"/>
                <a:ea typeface="Cambria" pitchFamily="34" charset="-122"/>
                <a:cs typeface="Cambria" pitchFamily="34" charset="-120"/>
              </a:rPr>
              <a:t>Relative: no</a:t>
            </a:r>
            <a:endParaRPr lang="en-US" sz="2800" dirty="0"/>
          </a:p>
        </p:txBody>
      </p:sp>
      <p:sp>
        <p:nvSpPr>
          <p:cNvPr id="20" name="Text 18"/>
          <p:cNvSpPr txBox="1"/>
          <p:nvPr/>
        </p:nvSpPr>
        <p:spPr>
          <a:xfrm>
            <a:off x="8321040" y="3474720"/>
            <a:ext cx="2971800" cy="1554480"/>
          </a:xfrm>
          <a:prstGeom prst="rect">
            <a:avLst/>
          </a:prstGeom>
          <a:noFill/>
          <a:ln/>
        </p:spPr>
        <p:txBody>
          <a:bodyPr wrap="square" lIns="0" tIns="0" rIns="0" bIns="0" rtlCol="0" anchor="t"/>
          <a:lstStyle/>
          <a:p>
            <a:pPr indent="0" marL="0">
              <a:buNone/>
            </a:pPr>
            <a:r>
              <a:rPr lang="en-US" sz="2200" dirty="0">
                <a:solidFill>
                  <a:srgbClr val="1F2A30"/>
                </a:solidFill>
                <a:latin typeface="Calibri" pitchFamily="34" charset="0"/>
                <a:ea typeface="Calibri" pitchFamily="34" charset="-122"/>
                <a:cs typeface="Calibri" pitchFamily="34" charset="-120"/>
              </a:rPr>
              <a:t>L − E = +0.045 nm; the absolute scale waits on air vs vacuum</a:t>
            </a:r>
            <a:endParaRPr lang="en-US" sz="2200" dirty="0"/>
          </a:p>
        </p:txBody>
      </p:sp>
      <p:sp>
        <p:nvSpPr>
          <p:cNvPr id="21" name="Text 19"/>
          <p:cNvSpPr txBox="1"/>
          <p:nvPr/>
        </p:nvSpPr>
        <p:spPr>
          <a:xfrm>
            <a:off x="457200" y="5577840"/>
            <a:ext cx="11277295" cy="45720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Criteria: (a) FWHM_E = FWHM_L; (b) spread &lt; 0.2 nm; (c) offset &gt; 0.1 nm</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731520" y="548640"/>
            <a:ext cx="10972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Next</a:t>
            </a:r>
            <a:endParaRPr lang="en-US" sz="4000" dirty="0"/>
          </a:p>
        </p:txBody>
      </p:sp>
      <p:sp>
        <p:nvSpPr>
          <p:cNvPr id="3" name="Text 1"/>
          <p:cNvSpPr txBox="1"/>
          <p:nvPr/>
        </p:nvSpPr>
        <p:spPr>
          <a:xfrm>
            <a:off x="731520" y="1645920"/>
            <a:ext cx="10972800" cy="4389120"/>
          </a:xfrm>
          <a:prstGeom prst="rect">
            <a:avLst/>
          </a:prstGeom>
          <a:noFill/>
          <a:ln/>
        </p:spPr>
        <p:txBody>
          <a:bodyPr wrap="square" lIns="0" tIns="0" rIns="0" bIns="0" rtlCol="0" anchor="t"/>
          <a:lstStyle/>
          <a:p>
            <a:pPr marL="342900" indent="-3429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Run Phase 0b on the ~150 requested sequences when they arrive</a:t>
            </a:r>
            <a:endParaRPr lang="en-US" sz="2600" dirty="0"/>
          </a:p>
          <a:p>
            <a:pPr marL="342900" indent="-3429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Phase 1 twin experiment with the template SRFs</a:t>
            </a:r>
            <a:endParaRPr lang="en-US" sz="2600" dirty="0"/>
          </a:p>
          <a:p>
            <a:pPr marL="342900" indent="-3429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From Kevin: cal files, lab line-spread data, air or vacuum?</a:t>
            </a:r>
            <a:endParaRPr lang="en-US" sz="2600" dirty="0"/>
          </a:p>
          <a:p>
            <a:pPr marL="342900" indent="-3429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Look into a possible additive signal in the red of Lu</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WATERHYPERNET wiggles: Phase 0a report</dc:title>
  <dc:subject>PptxGenJS Presentation</dc:subject>
  <dc:creator>J. Xavier Prochaska</dc:creator>
  <cp:lastModifiedBy>J. Xavier Prochaska</cp:lastModifiedBy>
  <cp:revision>1</cp:revision>
  <dcterms:created xsi:type="dcterms:W3CDTF">2026-09-29T18:38:42Z</dcterms:created>
  <dcterms:modified xsi:type="dcterms:W3CDTF">2026-09-29T18:38:42Z</dcterms:modified>
</cp:coreProperties>
</file>