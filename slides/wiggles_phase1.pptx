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tests the interpolation methods on synthetic data where the truth is known, before any correction touches real WATERHYPERNET spectra. It closes with gate G1, which sets the default method for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measured the SRFs and found H2 on the narrow-E instruments. Phase 1 asks which correction fixes it, how robust that correction is, and how much reduction Phase 3 should expect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bracket is the measured-over-model ratio, which is smooth if the model is good, so it is interpolated linearly. Eq. 14 multiplies by the model seen through the E SRF, so it restores E-width lines on the L grid; dividing L by that still leaves the width mismatch. The srf form uses the L SRF in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OSOAA has no gas absorption, so the split into a high-resolution irradiance times smooth radiative-transfer fields is clean. The full twin (25 scenes x 2 instruments x 16 cases x 5 methods) runs in about a minute on 12 cores. ρw″ is the second difference with h = 1 nm, as in Ruddick et al.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0.01 nm Ed and Ld at the G band and O2-A. Bottom: true ρw for the four waters and the two controls. A correction that smooths these peaks away would be removing real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SRFs are the clear-sky medians of the Release 2 template fits (Phase 0 task 8c). Each case runs on all 25 scenes. Cases iv to vi ask what happens when the correction is told something wrong; vii asks whether the gain survives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case iii (offset plus mismatch). Bottom row: case i (offset only). In case i every model-based method, and even cubic, removes the error; in case iii only srf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122304, narrow-E. Bottom: 122305, E about L. Green (srf) drops by orders of magnitude in i to iii and vi; the cases that hurt it are iv (wavelength error) and v (wrong SRF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Ruddick2023 cannot fix a width mismatch: it removes 0 % in ii and makes iii slightly worse. srf removes essentially all of it, is robust to a wrong model irradiance, and is sensitive to the E wavelength scale and the SRF widths. With noise the line error falls to the away-from-lines level: line/away 1.70 for linear, 1.14 for srf.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 about L instruments the correction gains nothing measurable and can do harm if the SRFs are slightly wrong. This is why Phase 2 applies srf only above a width-difference threshold. The twin also says the grid offset (H1) cannot explain the unexplained floor Phase 0 found on these instruments: candidates are the Ring effect in Ld, SRF shape, or the wavelength scale. The metrics differ, so this is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scene is composed with both controls, without fluorescence and without Raman; a method sees a control as the difference. Ed is the same, so only the irradiance error at the lines distorts it, and both controls peak in the O2 bands where that error is largest. The G1 control wording was sharpened for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irradiance can be quite wrong (SZA off by 10 degrees, water vapour off by a factor 3) because only its line shapes matter. The E wavelength scale and the SRF widths are what count. On 122304 srf is never worse than linear; on 122305 it is, once an SRF is a few tenths of a nm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SRF tolerances are met by per-instrument tables. The wavelength tolerance is the binding one, so Phase 2 adds a fit of a shift and stretch of E against the reference solar spectrum (task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iii on the 122304 grids, with the E SRF narrower than L by 0 to 1 nm. Three scenarios: ideal, VEIT noise, and noise plus 0.05 nm errors in the wavelength scale and FWHM_E. The perfect-correction curve is the ceiling: real line structure leaves an excess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Averaging N sequences lowers the noise and moves the result toward the noise-free curve, which is close to 100 %. h = 5 nm is dominated by real structure, so it is not a useful G3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conditional on the E wavelength scale to 0.05 nm and the SRF widths to 0.07 to 0.1 nm. The 0.15 nm threshold is where srf breaks even with linear under realistic knowledge errors. Full report: claude_prompts/wiggles/gate_G1.md.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then applies the corrections to the requested sequences and judges them against the yardstick on slide 15 (gate G3). Phase 0 tasks 9 to 14, and so gate G0, still wait on Kevin's L1A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731520" y="146304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Spectral wiggles in WATERHYPERNET</a:t>
            </a:r>
            <a:endParaRPr lang="en-US" sz="4400" dirty="0"/>
          </a:p>
        </p:txBody>
      </p:sp>
      <p:sp>
        <p:nvSpPr>
          <p:cNvPr id="3" name="Text 1"/>
          <p:cNvSpPr txBox="1"/>
          <p:nvPr/>
        </p:nvSpPr>
        <p:spPr>
          <a:xfrm>
            <a:off x="731520" y="2514600"/>
            <a:ext cx="10789920" cy="1188720"/>
          </a:xfrm>
          <a:prstGeom prst="rect">
            <a:avLst/>
          </a:prstGeom>
          <a:noFill/>
          <a:ln/>
        </p:spPr>
        <p:txBody>
          <a:bodyPr wrap="square" lIns="0" tIns="0" rIns="0" bIns="0" rtlCol="0" anchor="ctr"/>
          <a:lstStyle/>
          <a:p>
            <a:pPr indent="0" marL="0">
              <a:buNone/>
            </a:pPr>
            <a:r>
              <a:rPr lang="en-US" sz="2600" dirty="0">
                <a:solidFill>
                  <a:srgbClr val="CFE3E6"/>
                </a:solidFill>
                <a:latin typeface="Calibri" pitchFamily="34" charset="0"/>
                <a:ea typeface="Calibri" pitchFamily="34" charset="-122"/>
                <a:cs typeface="Calibri" pitchFamily="34" charset="-120"/>
              </a:rPr>
              <a:t>Phase 1: a twin experiment. Which interpolation removes which wiggle, and what does it do to real features?</a:t>
            </a:r>
            <a:endParaRPr lang="en-US" sz="2600" dirty="0"/>
          </a:p>
        </p:txBody>
      </p:sp>
      <p:sp>
        <p:nvSpPr>
          <p:cNvPr id="4" name="Text 2"/>
          <p:cNvSpPr txBox="1"/>
          <p:nvPr/>
        </p:nvSpPr>
        <p:spPr>
          <a:xfrm>
            <a:off x="731520" y="4023360"/>
            <a:ext cx="10972800" cy="45720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Synthetic HYPSTAR scenes · 25 sky and water states · 2 instruments · 16 cases · 5 methods</a:t>
            </a:r>
            <a:endParaRPr lang="en-US" sz="2200" dirty="0"/>
          </a:p>
        </p:txBody>
      </p:sp>
      <p:sp>
        <p:nvSpPr>
          <p:cNvPr id="5" name="Text 3"/>
          <p:cNvSpPr txBox="1"/>
          <p:nvPr/>
        </p:nvSpPr>
        <p:spPr>
          <a:xfrm>
            <a:off x="731520" y="5394960"/>
            <a:ext cx="10972800" cy="457200"/>
          </a:xfrm>
          <a:prstGeom prst="rect">
            <a:avLst/>
          </a:prstGeom>
          <a:noFill/>
          <a:ln/>
        </p:spPr>
        <p:txBody>
          <a:bodyPr wrap="square" lIns="0" tIns="0" rIns="0" bIns="0" rtlCol="0" anchor="ctr"/>
          <a:lstStyle/>
          <a:p>
            <a:pPr indent="0" marL="0">
              <a:buNone/>
            </a:pPr>
            <a:r>
              <a:rPr lang="en-US" sz="2000" dirty="0">
                <a:solidFill>
                  <a:srgbClr val="CFE3E6"/>
                </a:solidFill>
                <a:latin typeface="Calibri" pitchFamily="34" charset="0"/>
                <a:ea typeface="Calibri" pitchFamily="34" charset="-122"/>
                <a:cs typeface="Calibri" pitchFamily="34" charset="-120"/>
              </a:rPr>
              <a:t>J. Xavier Prochaska · UC Santa Cruz · 5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Why a twin experiment first</a:t>
            </a:r>
            <a:endParaRPr lang="en-US" sz="3400" dirty="0"/>
          </a:p>
        </p:txBody>
      </p:sp>
      <p:sp>
        <p:nvSpPr>
          <p:cNvPr id="3" name="Shape 1"/>
          <p:cNvSpPr/>
          <p:nvPr/>
        </p:nvSpPr>
        <p:spPr>
          <a:xfrm>
            <a:off x="457200" y="1280160"/>
            <a:ext cx="5394960" cy="2743200"/>
          </a:xfrm>
          <a:prstGeom prst="roundRect">
            <a:avLst>
              <a:gd name="adj" fmla="val 4000"/>
            </a:avLst>
          </a:prstGeom>
          <a:solidFill>
            <a:srgbClr val="E6F0F1"/>
          </a:solidFill>
          <a:ln w="12700">
            <a:solidFill>
              <a:srgbClr val="E6F0F1"/>
            </a:solidFill>
            <a:prstDash val="solid"/>
          </a:ln>
        </p:spPr>
      </p:sp>
      <p:sp>
        <p:nvSpPr>
          <p:cNvPr id="4" name="Shape 2"/>
          <p:cNvSpPr/>
          <p:nvPr/>
        </p:nvSpPr>
        <p:spPr>
          <a:xfrm>
            <a:off x="731520" y="1554480"/>
            <a:ext cx="777240" cy="777240"/>
          </a:xfrm>
          <a:prstGeom prst="ellipse">
            <a:avLst/>
          </a:prstGeom>
          <a:solidFill>
            <a:srgbClr val="13505B"/>
          </a:solidFill>
          <a:ln w="12700">
            <a:solidFill>
              <a:srgbClr val="13505B"/>
            </a:solidFill>
            <a:prstDash val="solid"/>
          </a:ln>
        </p:spPr>
      </p:sp>
      <p:sp>
        <p:nvSpPr>
          <p:cNvPr id="5" name="Text 3"/>
          <p:cNvSpPr txBox="1"/>
          <p:nvPr/>
        </p:nvSpPr>
        <p:spPr>
          <a:xfrm>
            <a:off x="731520" y="15544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H1</a:t>
            </a:r>
            <a:endParaRPr lang="en-US" sz="2400" dirty="0"/>
          </a:p>
        </p:txBody>
      </p:sp>
      <p:sp>
        <p:nvSpPr>
          <p:cNvPr id="6" name="Text 4"/>
          <p:cNvSpPr txBox="1"/>
          <p:nvPr/>
        </p:nvSpPr>
        <p:spPr>
          <a:xfrm>
            <a:off x="1691640" y="1554480"/>
            <a:ext cx="3931920" cy="777240"/>
          </a:xfrm>
          <a:prstGeom prst="rect">
            <a:avLst/>
          </a:prstGeom>
          <a:noFill/>
          <a:ln/>
        </p:spPr>
        <p:txBody>
          <a:bodyPr wrap="square" lIns="0" tIns="0" rIns="0" bIns="0" rtlCol="0" anchor="ctr"/>
          <a:lstStyle/>
          <a:p>
            <a:pPr indent="0" marL="0">
              <a:buNone/>
            </a:pPr>
            <a:r>
              <a:rPr lang="en-US" sz="2600" b="1" dirty="0">
                <a:solidFill>
                  <a:srgbClr val="1F2A30"/>
                </a:solidFill>
                <a:latin typeface="Cambria" pitchFamily="34" charset="0"/>
                <a:ea typeface="Cambria" pitchFamily="34" charset="-122"/>
                <a:cs typeface="Cambria" pitchFamily="34" charset="-120"/>
              </a:rPr>
              <a:t>Grid offset (Kevin)</a:t>
            </a:r>
            <a:endParaRPr lang="en-US" sz="2600" dirty="0"/>
          </a:p>
        </p:txBody>
      </p:sp>
      <p:sp>
        <p:nvSpPr>
          <p:cNvPr id="7" name="Text 5"/>
          <p:cNvSpPr txBox="1"/>
          <p:nvPr/>
        </p:nvSpPr>
        <p:spPr>
          <a:xfrm>
            <a:off x="731520" y="2514600"/>
            <a:ext cx="4846320" cy="13716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E and L sample different wavelengths; linear interpolation of Ed onto the L grid misplaces the Fraunhofer lines</a:t>
            </a:r>
            <a:endParaRPr lang="en-US" sz="2200" dirty="0"/>
          </a:p>
        </p:txBody>
      </p:sp>
      <p:sp>
        <p:nvSpPr>
          <p:cNvPr id="8" name="Shape 6"/>
          <p:cNvSpPr/>
          <p:nvPr/>
        </p:nvSpPr>
        <p:spPr>
          <a:xfrm>
            <a:off x="6217920" y="1280160"/>
            <a:ext cx="5394960" cy="2743200"/>
          </a:xfrm>
          <a:prstGeom prst="roundRect">
            <a:avLst>
              <a:gd name="adj" fmla="val 4000"/>
            </a:avLst>
          </a:prstGeom>
          <a:solidFill>
            <a:srgbClr val="E6F0F1"/>
          </a:solidFill>
          <a:ln w="12700">
            <a:solidFill>
              <a:srgbClr val="E6F0F1"/>
            </a:solidFill>
            <a:prstDash val="solid"/>
          </a:ln>
        </p:spPr>
      </p:sp>
      <p:sp>
        <p:nvSpPr>
          <p:cNvPr id="9" name="Shape 7"/>
          <p:cNvSpPr/>
          <p:nvPr/>
        </p:nvSpPr>
        <p:spPr>
          <a:xfrm>
            <a:off x="6492240" y="1554480"/>
            <a:ext cx="777240" cy="777240"/>
          </a:xfrm>
          <a:prstGeom prst="ellipse">
            <a:avLst/>
          </a:prstGeom>
          <a:solidFill>
            <a:srgbClr val="D9542C"/>
          </a:solidFill>
          <a:ln w="12700">
            <a:solidFill>
              <a:srgbClr val="D9542C"/>
            </a:solidFill>
            <a:prstDash val="solid"/>
          </a:ln>
        </p:spPr>
      </p:sp>
      <p:sp>
        <p:nvSpPr>
          <p:cNvPr id="10" name="Text 8"/>
          <p:cNvSpPr txBox="1"/>
          <p:nvPr/>
        </p:nvSpPr>
        <p:spPr>
          <a:xfrm>
            <a:off x="6492240" y="1554480"/>
            <a:ext cx="777240" cy="7772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H2</a:t>
            </a:r>
            <a:endParaRPr lang="en-US" sz="2400" dirty="0"/>
          </a:p>
        </p:txBody>
      </p:sp>
      <p:sp>
        <p:nvSpPr>
          <p:cNvPr id="11" name="Text 9"/>
          <p:cNvSpPr txBox="1"/>
          <p:nvPr/>
        </p:nvSpPr>
        <p:spPr>
          <a:xfrm>
            <a:off x="7452360" y="1554480"/>
            <a:ext cx="3931920" cy="777240"/>
          </a:xfrm>
          <a:prstGeom prst="rect">
            <a:avLst/>
          </a:prstGeom>
          <a:noFill/>
          <a:ln/>
        </p:spPr>
        <p:txBody>
          <a:bodyPr wrap="square" lIns="0" tIns="0" rIns="0" bIns="0" rtlCol="0" anchor="ctr"/>
          <a:lstStyle/>
          <a:p>
            <a:pPr indent="0" marL="0">
              <a:buNone/>
            </a:pPr>
            <a:r>
              <a:rPr lang="en-US" sz="2600" b="1" dirty="0">
                <a:solidFill>
                  <a:srgbClr val="1F2A30"/>
                </a:solidFill>
                <a:latin typeface="Cambria" pitchFamily="34" charset="0"/>
                <a:ea typeface="Cambria" pitchFamily="34" charset="-122"/>
                <a:cs typeface="Cambria" pitchFamily="34" charset="-120"/>
              </a:rPr>
              <a:t>SRF mismatch (ours)</a:t>
            </a:r>
            <a:endParaRPr lang="en-US" sz="2600" dirty="0"/>
          </a:p>
        </p:txBody>
      </p:sp>
      <p:sp>
        <p:nvSpPr>
          <p:cNvPr id="12" name="Text 10"/>
          <p:cNvSpPr txBox="1"/>
          <p:nvPr/>
        </p:nvSpPr>
        <p:spPr>
          <a:xfrm>
            <a:off x="6492240" y="2514600"/>
            <a:ext cx="4846320" cy="13716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E sees the lines through a narrower SRF than L, so the lines survive in L/E however Ed is interpolated</a:t>
            </a:r>
            <a:endParaRPr lang="en-US" sz="2200" dirty="0"/>
          </a:p>
        </p:txBody>
      </p:sp>
      <p:sp>
        <p:nvSpPr>
          <p:cNvPr id="13" name="Text 11"/>
          <p:cNvSpPr txBox="1"/>
          <p:nvPr/>
        </p:nvSpPr>
        <p:spPr>
          <a:xfrm>
            <a:off x="457200" y="4343400"/>
            <a:ext cx="11277295" cy="2011680"/>
          </a:xfrm>
          <a:prstGeom prst="rect">
            <a:avLst/>
          </a:prstGeom>
          <a:noFill/>
          <a:ln/>
        </p:spPr>
        <p:txBody>
          <a:bodyPr wrap="square" lIns="635" tIns="635" rIns="635" bIns="635" rtlCol="0" anchor="t"/>
          <a:lstStyle/>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Real ρw has no truth to compare against, and real features (fluorescence, Raman, gas-band peaks) look like wiggles</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A twin has a known truth, so every method can be scored, and its failure modes mapped, before Phase 3 applies it to data</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Three ways to put Ed on the L grid</a:t>
            </a:r>
            <a:endParaRPr lang="en-US" sz="3400" dirty="0"/>
          </a:p>
        </p:txBody>
      </p:sp>
      <p:sp>
        <p:nvSpPr>
          <p:cNvPr id="3" name="Shape 1"/>
          <p:cNvSpPr/>
          <p:nvPr/>
        </p:nvSpPr>
        <p:spPr>
          <a:xfrm>
            <a:off x="457200" y="1325880"/>
            <a:ext cx="11277295" cy="1280160"/>
          </a:xfrm>
          <a:prstGeom prst="roundRect">
            <a:avLst>
              <a:gd name="adj" fmla="val 7143"/>
            </a:avLst>
          </a:prstGeom>
          <a:solidFill>
            <a:srgbClr val="E6F0F1"/>
          </a:solidFill>
          <a:ln w="12700">
            <a:solidFill>
              <a:srgbClr val="E6F0F1"/>
            </a:solidFill>
            <a:prstDash val="solid"/>
          </a:ln>
        </p:spPr>
      </p:sp>
      <p:sp>
        <p:nvSpPr>
          <p:cNvPr id="4" name="Text 2"/>
          <p:cNvSpPr txBox="1"/>
          <p:nvPr/>
        </p:nvSpPr>
        <p:spPr>
          <a:xfrm>
            <a:off x="731520" y="1325880"/>
            <a:ext cx="2377440" cy="1280160"/>
          </a:xfrm>
          <a:prstGeom prst="rect">
            <a:avLst/>
          </a:prstGeom>
          <a:noFill/>
          <a:ln/>
        </p:spPr>
        <p:txBody>
          <a:bodyPr wrap="square" lIns="0" tIns="0" rIns="0" bIns="0" rtlCol="0" anchor="ctr"/>
          <a:lstStyle/>
          <a:p>
            <a:pPr indent="0" marL="0">
              <a:buNone/>
            </a:pPr>
            <a:r>
              <a:rPr lang="en-US" sz="2600" b="1" dirty="0">
                <a:solidFill>
                  <a:srgbClr val="D9542C"/>
                </a:solidFill>
                <a:latin typeface="Cambria" pitchFamily="34" charset="0"/>
                <a:ea typeface="Cambria" pitchFamily="34" charset="-122"/>
                <a:cs typeface="Cambria" pitchFamily="34" charset="-120"/>
              </a:rPr>
              <a:t>linear</a:t>
            </a:r>
            <a:endParaRPr lang="en-US" sz="2600" dirty="0"/>
          </a:p>
        </p:txBody>
      </p:sp>
      <p:sp>
        <p:nvSpPr>
          <p:cNvPr id="5" name="Text 3"/>
          <p:cNvSpPr txBox="1"/>
          <p:nvPr/>
        </p:nvSpPr>
        <p:spPr>
          <a:xfrm>
            <a:off x="3200400" y="1325880"/>
            <a:ext cx="8259775" cy="1280160"/>
          </a:xfrm>
          <a:prstGeom prst="rect">
            <a:avLst/>
          </a:prstGeom>
          <a:noFill/>
          <a:ln/>
        </p:spPr>
        <p:txBody>
          <a:bodyPr wrap="square" lIns="0" tIns="0" rIns="0" bIns="0" rtlCol="0" anchor="ctr"/>
          <a:lstStyle/>
          <a:p>
            <a:pPr indent="0" marL="0">
              <a:buNone/>
            </a:pPr>
            <a:r>
              <a:rPr lang="en-US" sz="2200" dirty="0">
                <a:solidFill>
                  <a:srgbClr val="1F2A30"/>
                </a:solidFill>
                <a:latin typeface="Cambria Math" pitchFamily="34" charset="0"/>
                <a:ea typeface="Cambria Math" pitchFamily="34" charset="-122"/>
                <a:cs typeface="Cambria Math" pitchFamily="34" charset="-120"/>
              </a:rPr>
              <a:t>E(λL) = (1 − w) Eᵢ + w Eᵢ₊₁</a:t>
            </a:r>
            <a:endParaRPr lang="en-US" sz="2200" dirty="0"/>
          </a:p>
          <a:p>
            <a:pPr indent="0" marL="0">
              <a:buNone/>
            </a:pPr>
            <a:r>
              <a:rPr lang="en-US" sz="2200" i="1" dirty="0">
                <a:solidFill>
                  <a:srgbClr val="4A5A60"/>
                </a:solidFill>
                <a:latin typeface="Calibri" pitchFamily="34" charset="0"/>
                <a:ea typeface="Calibri" pitchFamily="34" charset="-122"/>
                <a:cs typeface="Calibri" pitchFamily="34" charset="-120"/>
              </a:rPr>
              <a:t>The processor today (paper eqs. 11–12)</a:t>
            </a:r>
            <a:endParaRPr lang="en-US" sz="2200" dirty="0"/>
          </a:p>
        </p:txBody>
      </p:sp>
      <p:sp>
        <p:nvSpPr>
          <p:cNvPr id="6" name="Shape 4"/>
          <p:cNvSpPr/>
          <p:nvPr/>
        </p:nvSpPr>
        <p:spPr>
          <a:xfrm>
            <a:off x="457200" y="2834640"/>
            <a:ext cx="11277295" cy="1280160"/>
          </a:xfrm>
          <a:prstGeom prst="roundRect">
            <a:avLst>
              <a:gd name="adj" fmla="val 7143"/>
            </a:avLst>
          </a:prstGeom>
          <a:solidFill>
            <a:srgbClr val="E6F0F1"/>
          </a:solidFill>
          <a:ln w="12700">
            <a:solidFill>
              <a:srgbClr val="E6F0F1"/>
            </a:solidFill>
            <a:prstDash val="solid"/>
          </a:ln>
        </p:spPr>
      </p:sp>
      <p:sp>
        <p:nvSpPr>
          <p:cNvPr id="7" name="Text 5"/>
          <p:cNvSpPr txBox="1"/>
          <p:nvPr/>
        </p:nvSpPr>
        <p:spPr>
          <a:xfrm>
            <a:off x="731520" y="2834640"/>
            <a:ext cx="2377440" cy="1280160"/>
          </a:xfrm>
          <a:prstGeom prst="rect">
            <a:avLst/>
          </a:prstGeom>
          <a:noFill/>
          <a:ln/>
        </p:spPr>
        <p:txBody>
          <a:bodyPr wrap="square" lIns="0" tIns="0" rIns="0" bIns="0" rtlCol="0" anchor="ctr"/>
          <a:lstStyle/>
          <a:p>
            <a:pPr indent="0" marL="0">
              <a:buNone/>
            </a:pPr>
            <a:r>
              <a:rPr lang="en-US" sz="2600" b="1" dirty="0">
                <a:solidFill>
                  <a:srgbClr val="13505B"/>
                </a:solidFill>
                <a:latin typeface="Cambria" pitchFamily="34" charset="0"/>
                <a:ea typeface="Cambria" pitchFamily="34" charset="-122"/>
                <a:cs typeface="Cambria" pitchFamily="34" charset="-120"/>
              </a:rPr>
              <a:t>ruddick2023</a:t>
            </a:r>
            <a:endParaRPr lang="en-US" sz="2600" dirty="0"/>
          </a:p>
        </p:txBody>
      </p:sp>
      <p:sp>
        <p:nvSpPr>
          <p:cNvPr id="8" name="Text 6"/>
          <p:cNvSpPr txBox="1"/>
          <p:nvPr/>
        </p:nvSpPr>
        <p:spPr>
          <a:xfrm>
            <a:off x="3200400" y="2834640"/>
            <a:ext cx="8259775" cy="1280160"/>
          </a:xfrm>
          <a:prstGeom prst="rect">
            <a:avLst/>
          </a:prstGeom>
          <a:noFill/>
          <a:ln/>
        </p:spPr>
        <p:txBody>
          <a:bodyPr wrap="square" lIns="0" tIns="0" rIns="0" bIns="0" rtlCol="0" anchor="ctr"/>
          <a:lstStyle/>
          <a:p>
            <a:pPr indent="0" marL="0">
              <a:buNone/>
            </a:pPr>
            <a:r>
              <a:rPr lang="en-US" sz="2200" dirty="0">
                <a:solidFill>
                  <a:srgbClr val="1F2A30"/>
                </a:solidFill>
                <a:latin typeface="Cambria Math" pitchFamily="34" charset="0"/>
                <a:ea typeface="Cambria Math" pitchFamily="34" charset="-122"/>
                <a:cs typeface="Cambria Math" pitchFamily="34" charset="-120"/>
              </a:rPr>
              <a:t>E(λL) = Emod⊗SRF_E(λL) × [interpolated E / Emod⊗SRF_E]</a:t>
            </a:r>
            <a:endParaRPr lang="en-US" sz="2200" dirty="0"/>
          </a:p>
          <a:p>
            <a:pPr indent="0" marL="0">
              <a:buNone/>
            </a:pPr>
            <a:r>
              <a:rPr lang="en-US" sz="2200" i="1" dirty="0">
                <a:solidFill>
                  <a:srgbClr val="4A5A60"/>
                </a:solidFill>
                <a:latin typeface="Calibri" pitchFamily="34" charset="0"/>
                <a:ea typeface="Calibri" pitchFamily="34" charset="-122"/>
                <a:cs typeface="Calibri" pitchFamily="34" charset="-120"/>
              </a:rPr>
              <a:t>Paper eq. 14: corrects the grid offset (H1)</a:t>
            </a:r>
            <a:endParaRPr lang="en-US" sz="2200" dirty="0"/>
          </a:p>
        </p:txBody>
      </p:sp>
      <p:sp>
        <p:nvSpPr>
          <p:cNvPr id="9" name="Shape 7"/>
          <p:cNvSpPr/>
          <p:nvPr/>
        </p:nvSpPr>
        <p:spPr>
          <a:xfrm>
            <a:off x="457200" y="4343400"/>
            <a:ext cx="11277295" cy="1280160"/>
          </a:xfrm>
          <a:prstGeom prst="roundRect">
            <a:avLst>
              <a:gd name="adj" fmla="val 7143"/>
            </a:avLst>
          </a:prstGeom>
          <a:solidFill>
            <a:srgbClr val="E6F0F1"/>
          </a:solidFill>
          <a:ln w="12700">
            <a:solidFill>
              <a:srgbClr val="E6F0F1"/>
            </a:solidFill>
            <a:prstDash val="solid"/>
          </a:ln>
        </p:spPr>
      </p:sp>
      <p:sp>
        <p:nvSpPr>
          <p:cNvPr id="10" name="Text 8"/>
          <p:cNvSpPr txBox="1"/>
          <p:nvPr/>
        </p:nvSpPr>
        <p:spPr>
          <a:xfrm>
            <a:off x="731520" y="4343400"/>
            <a:ext cx="2377440" cy="1280160"/>
          </a:xfrm>
          <a:prstGeom prst="rect">
            <a:avLst/>
          </a:prstGeom>
          <a:noFill/>
          <a:ln/>
        </p:spPr>
        <p:txBody>
          <a:bodyPr wrap="square" lIns="0" tIns="0" rIns="0" bIns="0" rtlCol="0" anchor="ctr"/>
          <a:lstStyle/>
          <a:p>
            <a:pPr indent="0" marL="0">
              <a:buNone/>
            </a:pPr>
            <a:r>
              <a:rPr lang="en-US" sz="2600" b="1" dirty="0">
                <a:solidFill>
                  <a:srgbClr val="1B7F5A"/>
                </a:solidFill>
                <a:latin typeface="Cambria" pitchFamily="34" charset="0"/>
                <a:ea typeface="Cambria" pitchFamily="34" charset="-122"/>
                <a:cs typeface="Cambria" pitchFamily="34" charset="-120"/>
              </a:rPr>
              <a:t>srf</a:t>
            </a:r>
            <a:endParaRPr lang="en-US" sz="2600" dirty="0"/>
          </a:p>
        </p:txBody>
      </p:sp>
      <p:sp>
        <p:nvSpPr>
          <p:cNvPr id="11" name="Text 9"/>
          <p:cNvSpPr txBox="1"/>
          <p:nvPr/>
        </p:nvSpPr>
        <p:spPr>
          <a:xfrm>
            <a:off x="3200400" y="4343400"/>
            <a:ext cx="8259775" cy="1280160"/>
          </a:xfrm>
          <a:prstGeom prst="rect">
            <a:avLst/>
          </a:prstGeom>
          <a:noFill/>
          <a:ln/>
        </p:spPr>
        <p:txBody>
          <a:bodyPr wrap="square" lIns="0" tIns="0" rIns="0" bIns="0" rtlCol="0" anchor="ctr"/>
          <a:lstStyle/>
          <a:p>
            <a:pPr indent="0" marL="0">
              <a:buNone/>
            </a:pPr>
            <a:r>
              <a:rPr lang="en-US" sz="2200" dirty="0">
                <a:solidFill>
                  <a:srgbClr val="1F2A30"/>
                </a:solidFill>
                <a:latin typeface="Cambria Math" pitchFamily="34" charset="0"/>
                <a:ea typeface="Cambria Math" pitchFamily="34" charset="-122"/>
                <a:cs typeface="Cambria Math" pitchFamily="34" charset="-120"/>
              </a:rPr>
              <a:t>E(λL) = Emod⊗SRF_L(λL) × [interpolated E / Emod⊗SRF_E]</a:t>
            </a:r>
            <a:endParaRPr lang="en-US" sz="2200" dirty="0"/>
          </a:p>
          <a:p>
            <a:pPr indent="0" marL="0">
              <a:buNone/>
            </a:pPr>
            <a:r>
              <a:rPr lang="en-US" sz="2200" i="1" dirty="0">
                <a:solidFill>
                  <a:srgbClr val="4A5A60"/>
                </a:solidFill>
                <a:latin typeface="Calibri" pitchFamily="34" charset="0"/>
                <a:ea typeface="Calibri" pitchFamily="34" charset="-122"/>
                <a:cs typeface="Calibri" pitchFamily="34" charset="-120"/>
              </a:rPr>
              <a:t>This work: L SRF in front, so H1 and H2</a:t>
            </a:r>
            <a:endParaRPr lang="en-US" sz="2200" dirty="0"/>
          </a:p>
        </p:txBody>
      </p:sp>
      <p:sp>
        <p:nvSpPr>
          <p:cNvPr id="12" name="Text 10"/>
          <p:cNvSpPr txBox="1"/>
          <p:nvPr/>
        </p:nvSpPr>
        <p:spPr>
          <a:xfrm>
            <a:off x="457200" y="5897880"/>
            <a:ext cx="11277295" cy="73152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Emod: a 0.01 nm model irradiance.  With SRF_L = SRF_E, srf is eq. 14; with a flat Emod, it is linear.  Cubic and sinc are nulls.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How the twin is built</a:t>
            </a:r>
            <a:endParaRPr lang="en-US" sz="3400" dirty="0"/>
          </a:p>
        </p:txBody>
      </p:sp>
      <p:sp>
        <p:nvSpPr>
          <p:cNvPr id="3" name="Shape 1"/>
          <p:cNvSpPr/>
          <p:nvPr/>
        </p:nvSpPr>
        <p:spPr>
          <a:xfrm>
            <a:off x="457200" y="1280160"/>
            <a:ext cx="731520" cy="731520"/>
          </a:xfrm>
          <a:prstGeom prst="ellipse">
            <a:avLst/>
          </a:prstGeom>
          <a:solidFill>
            <a:srgbClr val="13505B"/>
          </a:solidFill>
          <a:ln w="12700">
            <a:solidFill>
              <a:srgbClr val="13505B"/>
            </a:solidFill>
            <a:prstDash val="solid"/>
          </a:ln>
        </p:spPr>
      </p:sp>
      <p:sp>
        <p:nvSpPr>
          <p:cNvPr id="4" name="Text 2"/>
          <p:cNvSpPr txBox="1"/>
          <p:nvPr/>
        </p:nvSpPr>
        <p:spPr>
          <a:xfrm>
            <a:off x="457200" y="12801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417320" y="1234440"/>
            <a:ext cx="2377440" cy="82296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Irradiance</a:t>
            </a:r>
            <a:endParaRPr lang="en-US" sz="2400" dirty="0"/>
          </a:p>
        </p:txBody>
      </p:sp>
      <p:sp>
        <p:nvSpPr>
          <p:cNvPr id="6" name="Text 4"/>
          <p:cNvSpPr txBox="1"/>
          <p:nvPr/>
        </p:nvSpPr>
        <p:spPr>
          <a:xfrm>
            <a:off x="3840480" y="1234440"/>
            <a:ext cx="7894015" cy="82296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TSIS-1 HSRS × HITRAN O₂/H₂O × O₃ on a 0.01 nm grid, direct and diffuse air masses</a:t>
            </a:r>
            <a:endParaRPr lang="en-US" sz="2200" dirty="0"/>
          </a:p>
        </p:txBody>
      </p:sp>
      <p:sp>
        <p:nvSpPr>
          <p:cNvPr id="7" name="Shape 5"/>
          <p:cNvSpPr/>
          <p:nvPr/>
        </p:nvSpPr>
        <p:spPr>
          <a:xfrm>
            <a:off x="457200" y="2304288"/>
            <a:ext cx="731520" cy="731520"/>
          </a:xfrm>
          <a:prstGeom prst="ellipse">
            <a:avLst/>
          </a:prstGeom>
          <a:solidFill>
            <a:srgbClr val="13505B"/>
          </a:solidFill>
          <a:ln w="12700">
            <a:solidFill>
              <a:srgbClr val="13505B"/>
            </a:solidFill>
            <a:prstDash val="solid"/>
          </a:ln>
        </p:spPr>
      </p:sp>
      <p:sp>
        <p:nvSpPr>
          <p:cNvPr id="8" name="Text 6"/>
          <p:cNvSpPr txBox="1"/>
          <p:nvPr/>
        </p:nvSpPr>
        <p:spPr>
          <a:xfrm>
            <a:off x="457200" y="2304288"/>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9" name="Text 7"/>
          <p:cNvSpPr txBox="1"/>
          <p:nvPr/>
        </p:nvSpPr>
        <p:spPr>
          <a:xfrm>
            <a:off x="1417320" y="2258568"/>
            <a:ext cx="2377440" cy="82296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Smooth fields</a:t>
            </a:r>
            <a:endParaRPr lang="en-US" sz="2400" dirty="0"/>
          </a:p>
        </p:txBody>
      </p:sp>
      <p:sp>
        <p:nvSpPr>
          <p:cNvPr id="10" name="Text 8"/>
          <p:cNvSpPr txBox="1"/>
          <p:nvPr/>
        </p:nvSpPr>
        <p:spPr>
          <a:xfrm>
            <a:off x="3840480" y="2258568"/>
            <a:ext cx="7894015" cy="82296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OSOAA at 5 nm: direct/diffuse Ed, sky Ld, Lw; SZA 30/50/70 (+ a VEIT-like 40°), two aerosol loads, four waters</a:t>
            </a:r>
            <a:endParaRPr lang="en-US" sz="2200" dirty="0"/>
          </a:p>
        </p:txBody>
      </p:sp>
      <p:sp>
        <p:nvSpPr>
          <p:cNvPr id="11" name="Shape 9"/>
          <p:cNvSpPr/>
          <p:nvPr/>
        </p:nvSpPr>
        <p:spPr>
          <a:xfrm>
            <a:off x="457200" y="3328416"/>
            <a:ext cx="731520" cy="731520"/>
          </a:xfrm>
          <a:prstGeom prst="ellipse">
            <a:avLst/>
          </a:prstGeom>
          <a:solidFill>
            <a:srgbClr val="13505B"/>
          </a:solidFill>
          <a:ln w="12700">
            <a:solidFill>
              <a:srgbClr val="13505B"/>
            </a:solidFill>
            <a:prstDash val="solid"/>
          </a:ln>
        </p:spPr>
      </p:sp>
      <p:sp>
        <p:nvSpPr>
          <p:cNvPr id="12" name="Text 10"/>
          <p:cNvSpPr txBox="1"/>
          <p:nvPr/>
        </p:nvSpPr>
        <p:spPr>
          <a:xfrm>
            <a:off x="457200" y="3328416"/>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3" name="Text 11"/>
          <p:cNvSpPr txBox="1"/>
          <p:nvPr/>
        </p:nvSpPr>
        <p:spPr>
          <a:xfrm>
            <a:off x="1417320" y="3282696"/>
            <a:ext cx="2377440" cy="82296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Scene</a:t>
            </a:r>
            <a:endParaRPr lang="en-US" sz="2400" dirty="0"/>
          </a:p>
        </p:txBody>
      </p:sp>
      <p:sp>
        <p:nvSpPr>
          <p:cNvPr id="14" name="Text 12"/>
          <p:cNvSpPr txBox="1"/>
          <p:nvPr/>
        </p:nvSpPr>
        <p:spPr>
          <a:xfrm>
            <a:off x="3840480" y="3282696"/>
            <a:ext cx="7894015" cy="82296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Ed, Ld, Lw at 0.01 nm, with chlorophyll fluorescence and water Raman as controls</a:t>
            </a:r>
            <a:endParaRPr lang="en-US" sz="2200" dirty="0"/>
          </a:p>
        </p:txBody>
      </p:sp>
      <p:sp>
        <p:nvSpPr>
          <p:cNvPr id="15" name="Shape 13"/>
          <p:cNvSpPr/>
          <p:nvPr/>
        </p:nvSpPr>
        <p:spPr>
          <a:xfrm>
            <a:off x="457200" y="4352544"/>
            <a:ext cx="731520" cy="731520"/>
          </a:xfrm>
          <a:prstGeom prst="ellipse">
            <a:avLst/>
          </a:prstGeom>
          <a:solidFill>
            <a:srgbClr val="13505B"/>
          </a:solidFill>
          <a:ln w="12700">
            <a:solidFill>
              <a:srgbClr val="13505B"/>
            </a:solidFill>
            <a:prstDash val="solid"/>
          </a:ln>
        </p:spPr>
      </p:sp>
      <p:sp>
        <p:nvSpPr>
          <p:cNvPr id="16" name="Text 14"/>
          <p:cNvSpPr txBox="1"/>
          <p:nvPr/>
        </p:nvSpPr>
        <p:spPr>
          <a:xfrm>
            <a:off x="457200" y="4352544"/>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7" name="Text 15"/>
          <p:cNvSpPr txBox="1"/>
          <p:nvPr/>
        </p:nvSpPr>
        <p:spPr>
          <a:xfrm>
            <a:off x="1417320" y="4306824"/>
            <a:ext cx="2377440" cy="82296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Instrument</a:t>
            </a:r>
            <a:endParaRPr lang="en-US" sz="2400" dirty="0"/>
          </a:p>
        </p:txBody>
      </p:sp>
      <p:sp>
        <p:nvSpPr>
          <p:cNvPr id="18" name="Text 16"/>
          <p:cNvSpPr txBox="1"/>
          <p:nvPr/>
        </p:nvSpPr>
        <p:spPr>
          <a:xfrm>
            <a:off x="3840480" y="4306824"/>
            <a:ext cx="7894015" cy="82296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Gaussian SRFs from the Release 2 fits, the real 1536/1538-pixel grids, VEIT per-scan noise</a:t>
            </a:r>
            <a:endParaRPr lang="en-US" sz="2200" dirty="0"/>
          </a:p>
        </p:txBody>
      </p:sp>
      <p:sp>
        <p:nvSpPr>
          <p:cNvPr id="19" name="Shape 17"/>
          <p:cNvSpPr/>
          <p:nvPr/>
        </p:nvSpPr>
        <p:spPr>
          <a:xfrm>
            <a:off x="457200" y="5376672"/>
            <a:ext cx="731520" cy="731520"/>
          </a:xfrm>
          <a:prstGeom prst="ellipse">
            <a:avLst/>
          </a:prstGeom>
          <a:solidFill>
            <a:srgbClr val="13505B"/>
          </a:solidFill>
          <a:ln w="12700">
            <a:solidFill>
              <a:srgbClr val="13505B"/>
            </a:solidFill>
            <a:prstDash val="solid"/>
          </a:ln>
        </p:spPr>
      </p:sp>
      <p:sp>
        <p:nvSpPr>
          <p:cNvPr id="20" name="Text 18"/>
          <p:cNvSpPr txBox="1"/>
          <p:nvPr/>
        </p:nvSpPr>
        <p:spPr>
          <a:xfrm>
            <a:off x="457200" y="5376672"/>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21" name="Text 19"/>
          <p:cNvSpPr txBox="1"/>
          <p:nvPr/>
        </p:nvSpPr>
        <p:spPr>
          <a:xfrm>
            <a:off x="1417320" y="5330952"/>
            <a:ext cx="2377440" cy="822960"/>
          </a:xfrm>
          <a:prstGeom prst="rect">
            <a:avLst/>
          </a:prstGeom>
          <a:noFill/>
          <a:ln/>
        </p:spPr>
        <p:txBody>
          <a:bodyPr wrap="square" lIns="0" tIns="0" rIns="0" bIns="0" rtlCol="0" anchor="ctr"/>
          <a:lstStyle/>
          <a:p>
            <a:pPr indent="0" marL="0">
              <a:buNone/>
            </a:pPr>
            <a:r>
              <a:rPr lang="en-US" sz="2400" b="1" dirty="0">
                <a:solidFill>
                  <a:srgbClr val="1F2A30"/>
                </a:solidFill>
                <a:latin typeface="Cambria" pitchFamily="34" charset="0"/>
                <a:ea typeface="Cambria" pitchFamily="34" charset="-122"/>
                <a:cs typeface="Cambria" pitchFamily="34" charset="-120"/>
              </a:rPr>
              <a:t>Score</a:t>
            </a:r>
            <a:endParaRPr lang="en-US" sz="2400" dirty="0"/>
          </a:p>
        </p:txBody>
      </p:sp>
      <p:sp>
        <p:nvSpPr>
          <p:cNvPr id="22" name="Text 20"/>
          <p:cNvSpPr txBox="1"/>
          <p:nvPr/>
        </p:nvSpPr>
        <p:spPr>
          <a:xfrm>
            <a:off x="3840480" y="5330952"/>
            <a:ext cx="7894015" cy="822960"/>
          </a:xfrm>
          <a:prstGeom prst="rect">
            <a:avLst/>
          </a:prstGeom>
          <a:noFill/>
          <a:ln/>
        </p:spPr>
        <p:txBody>
          <a:bodyPr wrap="square" lIns="0" tIns="0" rIns="0" bIns="0" rtlCol="0" anchor="ctr"/>
          <a:lstStyle/>
          <a:p>
            <a:pPr indent="0" marL="0">
              <a:buNone/>
            </a:pPr>
            <a:r>
              <a:rPr lang="en-US" sz="2200" dirty="0">
                <a:solidFill>
                  <a:srgbClr val="1F2A30"/>
                </a:solidFill>
                <a:latin typeface="Calibri" pitchFamily="34" charset="0"/>
                <a:ea typeface="Calibri" pitchFamily="34" charset="-122"/>
                <a:cs typeface="Calibri" pitchFamily="34" charset="-120"/>
              </a:rPr>
              <a:t>ρw from each method; rms of ρw″ − ρw″_true within ±5 nm of ten lines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A twin scene, and the features we must not erase</a:t>
            </a:r>
            <a:endParaRPr lang="en-US" sz="3400" dirty="0"/>
          </a:p>
        </p:txBody>
      </p:sp>
      <p:pic>
        <p:nvPicPr>
          <p:cNvPr id="3" name="Image 0" descr="/Users/xavier/Oceanography/python/hypernet/hypernet/wiggles/figs/phase1/scene_check.png">    </p:cNvPr>
          <p:cNvPicPr>
            <a:picLocks noChangeAspect="1"/>
          </p:cNvPicPr>
          <p:nvPr/>
        </p:nvPicPr>
        <p:blipFill>
          <a:blip r:embed="rId1"/>
          <a:stretch>
            <a:fillRect/>
          </a:stretch>
        </p:blipFill>
        <p:spPr>
          <a:xfrm>
            <a:off x="457200" y="1188720"/>
            <a:ext cx="7223760" cy="4925291"/>
          </a:xfrm>
          <a:prstGeom prst="rect">
            <a:avLst/>
          </a:prstGeom>
        </p:spPr>
      </p:pic>
      <p:sp>
        <p:nvSpPr>
          <p:cNvPr id="4" name="Shape 1"/>
          <p:cNvSpPr/>
          <p:nvPr/>
        </p:nvSpPr>
        <p:spPr>
          <a:xfrm>
            <a:off x="7955280" y="1188720"/>
            <a:ext cx="3779215" cy="2537460"/>
          </a:xfrm>
          <a:prstGeom prst="roundRect">
            <a:avLst>
              <a:gd name="adj" fmla="val 3604"/>
            </a:avLst>
          </a:prstGeom>
          <a:solidFill>
            <a:srgbClr val="E6F0F1"/>
          </a:solidFill>
          <a:ln w="12700">
            <a:solidFill>
              <a:srgbClr val="E6F0F1"/>
            </a:solidFill>
            <a:prstDash val="solid"/>
          </a:ln>
        </p:spPr>
      </p:sp>
      <p:sp>
        <p:nvSpPr>
          <p:cNvPr id="5" name="Text 2"/>
          <p:cNvSpPr txBox="1"/>
          <p:nvPr/>
        </p:nvSpPr>
        <p:spPr>
          <a:xfrm>
            <a:off x="8138160" y="1298448"/>
            <a:ext cx="3413455"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683 nm</a:t>
            </a:r>
            <a:endParaRPr lang="en-US" sz="3600" dirty="0"/>
          </a:p>
        </p:txBody>
      </p:sp>
      <p:sp>
        <p:nvSpPr>
          <p:cNvPr id="6" name="Text 3"/>
          <p:cNvSpPr txBox="1"/>
          <p:nvPr/>
        </p:nvSpPr>
        <p:spPr>
          <a:xfrm>
            <a:off x="8138160" y="2057400"/>
            <a:ext cx="3413455" cy="157734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fluorescence: a 25 nm peak with no Fraunhofer structure</a:t>
            </a:r>
            <a:endParaRPr lang="en-US" sz="2000" dirty="0"/>
          </a:p>
        </p:txBody>
      </p:sp>
      <p:sp>
        <p:nvSpPr>
          <p:cNvPr id="7" name="Shape 4"/>
          <p:cNvSpPr/>
          <p:nvPr/>
        </p:nvSpPr>
        <p:spPr>
          <a:xfrm>
            <a:off x="7955280" y="3954780"/>
            <a:ext cx="3779215" cy="2537460"/>
          </a:xfrm>
          <a:prstGeom prst="roundRect">
            <a:avLst>
              <a:gd name="adj" fmla="val 3604"/>
            </a:avLst>
          </a:prstGeom>
          <a:solidFill>
            <a:srgbClr val="E6F0F1"/>
          </a:solidFill>
          <a:ln w="12700">
            <a:solidFill>
              <a:srgbClr val="E6F0F1"/>
            </a:solidFill>
            <a:prstDash val="solid"/>
          </a:ln>
        </p:spPr>
      </p:sp>
      <p:sp>
        <p:nvSpPr>
          <p:cNvPr id="8" name="Text 5"/>
          <p:cNvSpPr txBox="1"/>
          <p:nvPr/>
        </p:nvSpPr>
        <p:spPr>
          <a:xfrm>
            <a:off x="8138160" y="4064508"/>
            <a:ext cx="3413455"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O₂-A, O₂-B</a:t>
            </a:r>
            <a:endParaRPr lang="en-US" sz="3600" dirty="0"/>
          </a:p>
        </p:txBody>
      </p:sp>
      <p:sp>
        <p:nvSpPr>
          <p:cNvPr id="9" name="Text 6"/>
          <p:cNvSpPr txBox="1"/>
          <p:nvPr/>
        </p:nvSpPr>
        <p:spPr>
          <a:xfrm>
            <a:off x="8138160" y="4823460"/>
            <a:ext cx="3413455" cy="157734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Raman and fluorescence are emitted below the atmosphere, so ρw peaks in the gas bands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Two instruments, sixteen cases</a:t>
            </a:r>
            <a:endParaRPr lang="en-US" sz="3400" dirty="0"/>
          </a:p>
        </p:txBody>
      </p:sp>
      <p:sp>
        <p:nvSpPr>
          <p:cNvPr id="3" name="Text 1"/>
          <p:cNvSpPr txBox="1"/>
          <p:nvPr/>
        </p:nvSpPr>
        <p:spPr>
          <a:xfrm>
            <a:off x="457200" y="1234440"/>
            <a:ext cx="11277295" cy="640080"/>
          </a:xfrm>
          <a:prstGeom prst="rect">
            <a:avLst/>
          </a:prstGeom>
          <a:noFill/>
          <a:ln/>
        </p:spPr>
        <p:txBody>
          <a:bodyPr wrap="square" lIns="0" tIns="0" rIns="0" bIns="0" rtlCol="0" anchor="ctr"/>
          <a:lstStyle/>
          <a:p>
            <a:pPr indent="0" marL="0">
              <a:buNone/>
            </a:pPr>
            <a:r>
              <a:rPr lang="en-US" sz="2200" b="1" dirty="0">
                <a:solidFill>
                  <a:srgbClr val="D9542C"/>
                </a:solidFill>
                <a:latin typeface="Cambria" pitchFamily="34" charset="0"/>
                <a:ea typeface="Cambria" pitchFamily="34" charset="-122"/>
                <a:cs typeface="Cambria" pitchFamily="34" charset="-120"/>
              </a:rPr>
              <a:t>122304  </a:t>
            </a:r>
            <a:pPr indent="0" marL="0">
              <a:buNone/>
            </a:pPr>
            <a:r>
              <a:rPr lang="en-US" sz="2200" dirty="0">
                <a:solidFill>
                  <a:srgbClr val="1F2A30"/>
                </a:solidFill>
                <a:latin typeface="Calibri" pitchFamily="34" charset="0"/>
                <a:ea typeface="Calibri" pitchFamily="34" charset="-122"/>
                <a:cs typeface="Calibri" pitchFamily="34" charset="-120"/>
              </a:rPr>
              <a:t>narrow-E: FWHM_L − FWHM_E ≈ 0.5 nm (also 122302, 120242)</a:t>
            </a:r>
            <a:endParaRPr lang="en-US" sz="2200" dirty="0"/>
          </a:p>
        </p:txBody>
      </p:sp>
      <p:sp>
        <p:nvSpPr>
          <p:cNvPr id="4" name="Text 2"/>
          <p:cNvSpPr txBox="1"/>
          <p:nvPr/>
        </p:nvSpPr>
        <p:spPr>
          <a:xfrm>
            <a:off x="457200" y="2011680"/>
            <a:ext cx="11277295" cy="640080"/>
          </a:xfrm>
          <a:prstGeom prst="rect">
            <a:avLst/>
          </a:prstGeom>
          <a:noFill/>
          <a:ln/>
        </p:spPr>
        <p:txBody>
          <a:bodyPr wrap="square" lIns="0" tIns="0" rIns="0" bIns="0" rtlCol="0" anchor="ctr"/>
          <a:lstStyle/>
          <a:p>
            <a:pPr indent="0" marL="0">
              <a:buNone/>
            </a:pPr>
            <a:r>
              <a:rPr lang="en-US" sz="2200" b="1" dirty="0">
                <a:solidFill>
                  <a:srgbClr val="13505B"/>
                </a:solidFill>
                <a:latin typeface="Cambria" pitchFamily="34" charset="0"/>
                <a:ea typeface="Cambria" pitchFamily="34" charset="-122"/>
                <a:cs typeface="Cambria" pitchFamily="34" charset="-120"/>
              </a:rPr>
              <a:t>122305  </a:t>
            </a:r>
            <a:pPr indent="0" marL="0">
              <a:buNone/>
            </a:pPr>
            <a:r>
              <a:rPr lang="en-US" sz="2200" dirty="0">
                <a:solidFill>
                  <a:srgbClr val="1F2A30"/>
                </a:solidFill>
                <a:latin typeface="Calibri" pitchFamily="34" charset="0"/>
                <a:ea typeface="Calibri" pitchFamily="34" charset="-122"/>
                <a:cs typeface="Calibri" pitchFamily="34" charset="-120"/>
              </a:rPr>
              <a:t>E ≈ L within 0.07 nm (also 121222, 121231, 122303)</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11277295" cy="914400"/>
        </p:xfrm>
        <a:graphic>
          <a:graphicData uri="http://schemas.openxmlformats.org/drawingml/2006/table">
            <a:tbl>
              <a:tblPr/>
              <a:tblGrid>
                <a:gridCol w="2194560"/>
                <a:gridCol w="9082735"/>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Case</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What changes</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grid offset only, equal SRFs: H1 alone</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(ii) / (iii)</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SRF mismatch alone / offset + mismatch: H2</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(iv)</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E wavelength error: shift ±0.1, ±0.3 nm; stretch ±0.1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(v)</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correction told FWHM_E or FWHM_L ±0.3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(vi)</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wrong Emod: SZA + 10°, water vapour × 2, low aerosol</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(vii)</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VEIT per-scan noise, mean of 6 scans</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What the methods do at Ca H/K, Hα and O₂-A</a:t>
            </a:r>
            <a:endParaRPr lang="en-US" sz="3400" dirty="0"/>
          </a:p>
        </p:txBody>
      </p:sp>
      <p:pic>
        <p:nvPicPr>
          <p:cNvPr id="3" name="Image 0" descr="/Users/xavier/Oceanography/python/hypernet/hypernet/wiggles/figs/phase1/twin_rho2_lines.png">    </p:cNvPr>
          <p:cNvPicPr>
            <a:picLocks noChangeAspect="1"/>
          </p:cNvPicPr>
          <p:nvPr/>
        </p:nvPicPr>
        <p:blipFill>
          <a:blip r:embed="rId1"/>
          <a:stretch>
            <a:fillRect/>
          </a:stretch>
        </p:blipFill>
        <p:spPr>
          <a:xfrm>
            <a:off x="457200" y="1188720"/>
            <a:ext cx="7498080" cy="4037428"/>
          </a:xfrm>
          <a:prstGeom prst="rect">
            <a:avLst/>
          </a:prstGeom>
        </p:spPr>
      </p:pic>
      <p:sp>
        <p:nvSpPr>
          <p:cNvPr id="4" name="Shape 1"/>
          <p:cNvSpPr/>
          <p:nvPr/>
        </p:nvSpPr>
        <p:spPr>
          <a:xfrm>
            <a:off x="8229600" y="1188720"/>
            <a:ext cx="3504895" cy="1615440"/>
          </a:xfrm>
          <a:prstGeom prst="roundRect">
            <a:avLst>
              <a:gd name="adj" fmla="val 5660"/>
            </a:avLst>
          </a:prstGeom>
          <a:solidFill>
            <a:srgbClr val="E6F0F1"/>
          </a:solidFill>
          <a:ln w="12700">
            <a:solidFill>
              <a:srgbClr val="E6F0F1"/>
            </a:solidFill>
            <a:prstDash val="solid"/>
          </a:ln>
        </p:spPr>
      </p:sp>
      <p:sp>
        <p:nvSpPr>
          <p:cNvPr id="5" name="Text 2"/>
          <p:cNvSpPr txBox="1"/>
          <p:nvPr/>
        </p:nvSpPr>
        <p:spPr>
          <a:xfrm>
            <a:off x="8412480" y="1298448"/>
            <a:ext cx="3139135"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6×</a:t>
            </a:r>
            <a:endParaRPr lang="en-US" sz="3600" dirty="0"/>
          </a:p>
        </p:txBody>
      </p:sp>
      <p:sp>
        <p:nvSpPr>
          <p:cNvPr id="6" name="Text 3"/>
          <p:cNvSpPr txBox="1"/>
          <p:nvPr/>
        </p:nvSpPr>
        <p:spPr>
          <a:xfrm>
            <a:off x="8412480" y="2057400"/>
            <a:ext cx="3139135" cy="65532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linear error vs the true line structure, case (iii), 122304</a:t>
            </a:r>
            <a:endParaRPr lang="en-US" sz="2000" dirty="0"/>
          </a:p>
        </p:txBody>
      </p:sp>
      <p:sp>
        <p:nvSpPr>
          <p:cNvPr id="7" name="Shape 4"/>
          <p:cNvSpPr/>
          <p:nvPr/>
        </p:nvSpPr>
        <p:spPr>
          <a:xfrm>
            <a:off x="8229600" y="3032760"/>
            <a:ext cx="3504895" cy="1615440"/>
          </a:xfrm>
          <a:prstGeom prst="roundRect">
            <a:avLst>
              <a:gd name="adj" fmla="val 5660"/>
            </a:avLst>
          </a:prstGeom>
          <a:solidFill>
            <a:srgbClr val="E6F0F1"/>
          </a:solidFill>
          <a:ln w="12700">
            <a:solidFill>
              <a:srgbClr val="E6F0F1"/>
            </a:solidFill>
            <a:prstDash val="solid"/>
          </a:ln>
        </p:spPr>
      </p:sp>
      <p:sp>
        <p:nvSpPr>
          <p:cNvPr id="8" name="Text 5"/>
          <p:cNvSpPr txBox="1"/>
          <p:nvPr/>
        </p:nvSpPr>
        <p:spPr>
          <a:xfrm>
            <a:off x="8412480" y="3142488"/>
            <a:ext cx="3139135"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srf = truth</a:t>
            </a:r>
            <a:endParaRPr lang="en-US" sz="3600" dirty="0"/>
          </a:p>
        </p:txBody>
      </p:sp>
      <p:sp>
        <p:nvSpPr>
          <p:cNvPr id="9" name="Text 6"/>
          <p:cNvSpPr txBox="1"/>
          <p:nvPr/>
        </p:nvSpPr>
        <p:spPr>
          <a:xfrm>
            <a:off x="8412480" y="3901440"/>
            <a:ext cx="3139135" cy="65532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green lies on black in (iii); ruddick2023 tracks linear</a:t>
            </a:r>
            <a:endParaRPr lang="en-US" sz="2000" dirty="0"/>
          </a:p>
        </p:txBody>
      </p:sp>
      <p:sp>
        <p:nvSpPr>
          <p:cNvPr id="10" name="Shape 7"/>
          <p:cNvSpPr/>
          <p:nvPr/>
        </p:nvSpPr>
        <p:spPr>
          <a:xfrm>
            <a:off x="8229600" y="4876800"/>
            <a:ext cx="3504895" cy="1615440"/>
          </a:xfrm>
          <a:prstGeom prst="roundRect">
            <a:avLst>
              <a:gd name="adj" fmla="val 5660"/>
            </a:avLst>
          </a:prstGeom>
          <a:solidFill>
            <a:srgbClr val="E6F0F1"/>
          </a:solidFill>
          <a:ln w="12700">
            <a:solidFill>
              <a:srgbClr val="E6F0F1"/>
            </a:solidFill>
            <a:prstDash val="solid"/>
          </a:ln>
        </p:spPr>
      </p:sp>
      <p:sp>
        <p:nvSpPr>
          <p:cNvPr id="11" name="Text 8"/>
          <p:cNvSpPr txBox="1"/>
          <p:nvPr/>
        </p:nvSpPr>
        <p:spPr>
          <a:xfrm>
            <a:off x="8412480" y="4986528"/>
            <a:ext cx="3139135"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(i) small</a:t>
            </a:r>
            <a:endParaRPr lang="en-US" sz="3600" dirty="0"/>
          </a:p>
        </p:txBody>
      </p:sp>
      <p:sp>
        <p:nvSpPr>
          <p:cNvPr id="12" name="Text 9"/>
          <p:cNvSpPr txBox="1"/>
          <p:nvPr/>
        </p:nvSpPr>
        <p:spPr>
          <a:xfrm>
            <a:off x="8412480" y="5745480"/>
            <a:ext cx="3139135" cy="65532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offset alone: 5.6×10⁻⁶, 4 % of the mismatch error</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Every case, every method</a:t>
            </a:r>
            <a:endParaRPr lang="en-US" sz="3400" dirty="0"/>
          </a:p>
        </p:txBody>
      </p:sp>
      <p:pic>
        <p:nvPicPr>
          <p:cNvPr id="3" name="Image 0" descr="/Users/xavier/Oceanography/python/hypernet/hypernet/wiggles/figs/phase1/twin_reduction.png">    </p:cNvPr>
          <p:cNvPicPr>
            <a:picLocks noChangeAspect="1"/>
          </p:cNvPicPr>
          <p:nvPr/>
        </p:nvPicPr>
        <p:blipFill>
          <a:blip r:embed="rId1"/>
          <a:stretch>
            <a:fillRect/>
          </a:stretch>
        </p:blipFill>
        <p:spPr>
          <a:xfrm>
            <a:off x="2158213" y="1143000"/>
            <a:ext cx="7875270" cy="4846320"/>
          </a:xfrm>
          <a:prstGeom prst="rect">
            <a:avLst/>
          </a:prstGeom>
        </p:spPr>
      </p:pic>
      <p:sp>
        <p:nvSpPr>
          <p:cNvPr id="4" name="Text 1"/>
          <p:cNvSpPr txBox="1"/>
          <p:nvPr/>
        </p:nvSpPr>
        <p:spPr>
          <a:xfrm>
            <a:off x="457200" y="6126480"/>
            <a:ext cx="11277295" cy="4572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Median rms ρw″ error near the lines (h = 1 nm).  Grey bars: srf away from the lines.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Narrow-E (122304): srf fixes it, eq. 14 does not</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7295" cy="914400"/>
        </p:xfrm>
        <a:graphic>
          <a:graphicData uri="http://schemas.openxmlformats.org/drawingml/2006/table">
            <a:tbl>
              <a:tblPr/>
              <a:tblGrid>
                <a:gridCol w="4206240"/>
                <a:gridCol w="2377440"/>
                <a:gridCol w="2377440"/>
                <a:gridCol w="2316175"/>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Case</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linear error</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ruddick2023</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srf</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 grid offset only</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5.6×10⁻⁶</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99 %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99 %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(ii) SRF mismatch only</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1.5×10⁻⁴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100 %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(iii) offset + mismatch</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1.4×10⁻⁴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−6 %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100 %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(iv) E λ shift 0.1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1.5×10⁻⁴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−6 %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62 %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(iv) E λ shift 0.3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1.9×10⁻⁴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13 %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(v) FWHM_E off 0.3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1.4×10⁻⁴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−9 %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6 %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(vi) Emod PWV × 2</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1.4×10⁻⁴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−6 %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99 %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(vii) VEIT noise</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1.9×10⁻⁴</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−4 %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7F5A"/>
                          </a:solidFill>
                          <a:latin typeface="Calibri" pitchFamily="34" charset="0"/>
                          <a:ea typeface="Calibri" pitchFamily="34" charset="-122"/>
                          <a:cs typeface="Calibri" pitchFamily="34" charset="-120"/>
                        </a:rPr>
                        <a:t>45 %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5440680"/>
            <a:ext cx="11277295" cy="73152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Reductions relative to linear; error = median rms ρw″ − ρw″_true near the lines, h = 1 nm.  True line structure: 2.6×10⁻⁵.</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E ≈ L (122305): little to fix, and easy to break</a:t>
            </a:r>
            <a:endParaRPr lang="en-US" sz="3400" dirty="0"/>
          </a:p>
        </p:txBody>
      </p:sp>
      <p:sp>
        <p:nvSpPr>
          <p:cNvPr id="3" name="Shape 1"/>
          <p:cNvSpPr/>
          <p:nvPr/>
        </p:nvSpPr>
        <p:spPr>
          <a:xfrm>
            <a:off x="457200" y="1234440"/>
            <a:ext cx="5486400" cy="1737360"/>
          </a:xfrm>
          <a:prstGeom prst="roundRect">
            <a:avLst>
              <a:gd name="adj" fmla="val 5263"/>
            </a:avLst>
          </a:prstGeom>
          <a:solidFill>
            <a:srgbClr val="E6F0F1"/>
          </a:solidFill>
          <a:ln w="12700">
            <a:solidFill>
              <a:srgbClr val="E6F0F1"/>
            </a:solidFill>
            <a:prstDash val="solid"/>
          </a:ln>
        </p:spPr>
      </p:sp>
      <p:sp>
        <p:nvSpPr>
          <p:cNvPr id="4" name="Text 2"/>
          <p:cNvSpPr txBox="1"/>
          <p:nvPr/>
        </p:nvSpPr>
        <p:spPr>
          <a:xfrm>
            <a:off x="640080" y="1344168"/>
            <a:ext cx="5120640" cy="777240"/>
          </a:xfrm>
          <a:prstGeom prst="rect">
            <a:avLst/>
          </a:prstGeom>
          <a:noFill/>
          <a:ln/>
        </p:spPr>
        <p:txBody>
          <a:bodyPr wrap="square" lIns="0" tIns="0" rIns="0" bIns="0" rtlCol="0" anchor="ctr"/>
          <a:lstStyle/>
          <a:p>
            <a:pPr indent="0" marL="0">
              <a:buNone/>
            </a:pPr>
            <a:r>
              <a:rPr lang="en-US" sz="3600" b="1" dirty="0">
                <a:solidFill>
                  <a:srgbClr val="13505B"/>
                </a:solidFill>
                <a:latin typeface="Cambria" pitchFamily="34" charset="0"/>
                <a:ea typeface="Cambria" pitchFamily="34" charset="-122"/>
                <a:cs typeface="Cambria" pitchFamily="34" charset="-120"/>
              </a:rPr>
              <a:t>1.2×10⁻⁵</a:t>
            </a:r>
            <a:endParaRPr lang="en-US" sz="3600" dirty="0"/>
          </a:p>
        </p:txBody>
      </p:sp>
      <p:sp>
        <p:nvSpPr>
          <p:cNvPr id="5" name="Text 3"/>
          <p:cNvSpPr txBox="1"/>
          <p:nvPr/>
        </p:nvSpPr>
        <p:spPr>
          <a:xfrm>
            <a:off x="640080" y="2103120"/>
            <a:ext cx="5120640" cy="77724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linear error in (iii): already below the true line structure (2.6×10⁻⁵)</a:t>
            </a:r>
            <a:endParaRPr lang="en-US" sz="2000" dirty="0"/>
          </a:p>
        </p:txBody>
      </p:sp>
      <p:sp>
        <p:nvSpPr>
          <p:cNvPr id="6" name="Shape 4"/>
          <p:cNvSpPr/>
          <p:nvPr/>
        </p:nvSpPr>
        <p:spPr>
          <a:xfrm>
            <a:off x="6172200" y="1234440"/>
            <a:ext cx="5486400" cy="1737360"/>
          </a:xfrm>
          <a:prstGeom prst="roundRect">
            <a:avLst>
              <a:gd name="adj" fmla="val 5263"/>
            </a:avLst>
          </a:prstGeom>
          <a:solidFill>
            <a:srgbClr val="E6F0F1"/>
          </a:solidFill>
          <a:ln w="12700">
            <a:solidFill>
              <a:srgbClr val="E6F0F1"/>
            </a:solidFill>
            <a:prstDash val="solid"/>
          </a:ln>
        </p:spPr>
      </p:sp>
      <p:sp>
        <p:nvSpPr>
          <p:cNvPr id="7" name="Text 5"/>
          <p:cNvSpPr txBox="1"/>
          <p:nvPr/>
        </p:nvSpPr>
        <p:spPr>
          <a:xfrm>
            <a:off x="6355080" y="1344168"/>
            <a:ext cx="5120640" cy="777240"/>
          </a:xfrm>
          <a:prstGeom prst="rect">
            <a:avLst/>
          </a:prstGeom>
          <a:noFill/>
          <a:ln/>
        </p:spPr>
        <p:txBody>
          <a:bodyPr wrap="square" lIns="0" tIns="0" rIns="0" bIns="0" rtlCol="0" anchor="ctr"/>
          <a:lstStyle/>
          <a:p>
            <a:pPr indent="0" marL="0">
              <a:buNone/>
            </a:pPr>
            <a:r>
              <a:rPr lang="en-US" sz="3600" b="1" dirty="0">
                <a:solidFill>
                  <a:srgbClr val="1B7F5A"/>
                </a:solidFill>
                <a:latin typeface="Cambria" pitchFamily="34" charset="0"/>
                <a:ea typeface="Cambria" pitchFamily="34" charset="-122"/>
                <a:cs typeface="Cambria" pitchFamily="34" charset="-120"/>
              </a:rPr>
              <a:t>100 %</a:t>
            </a:r>
            <a:endParaRPr lang="en-US" sz="3600" dirty="0"/>
          </a:p>
        </p:txBody>
      </p:sp>
      <p:sp>
        <p:nvSpPr>
          <p:cNvPr id="8" name="Text 6"/>
          <p:cNvSpPr txBox="1"/>
          <p:nvPr/>
        </p:nvSpPr>
        <p:spPr>
          <a:xfrm>
            <a:off x="6355080" y="2103120"/>
            <a:ext cx="5120640" cy="77724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srf reduction when told the right SRFs</a:t>
            </a:r>
            <a:endParaRPr lang="en-US" sz="2000" dirty="0"/>
          </a:p>
        </p:txBody>
      </p:sp>
      <p:sp>
        <p:nvSpPr>
          <p:cNvPr id="9" name="Shape 7"/>
          <p:cNvSpPr/>
          <p:nvPr/>
        </p:nvSpPr>
        <p:spPr>
          <a:xfrm>
            <a:off x="457200" y="3200400"/>
            <a:ext cx="5486400" cy="1737360"/>
          </a:xfrm>
          <a:prstGeom prst="roundRect">
            <a:avLst>
              <a:gd name="adj" fmla="val 5263"/>
            </a:avLst>
          </a:prstGeom>
          <a:solidFill>
            <a:srgbClr val="E6F0F1"/>
          </a:solidFill>
          <a:ln w="12700">
            <a:solidFill>
              <a:srgbClr val="E6F0F1"/>
            </a:solidFill>
            <a:prstDash val="solid"/>
          </a:ln>
        </p:spPr>
      </p:sp>
      <p:sp>
        <p:nvSpPr>
          <p:cNvPr id="10" name="Text 8"/>
          <p:cNvSpPr txBox="1"/>
          <p:nvPr/>
        </p:nvSpPr>
        <p:spPr>
          <a:xfrm>
            <a:off x="640080" y="3310128"/>
            <a:ext cx="5120640"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6–8×</a:t>
            </a:r>
            <a:endParaRPr lang="en-US" sz="3600" dirty="0"/>
          </a:p>
        </p:txBody>
      </p:sp>
      <p:sp>
        <p:nvSpPr>
          <p:cNvPr id="11" name="Text 9"/>
          <p:cNvSpPr txBox="1"/>
          <p:nvPr/>
        </p:nvSpPr>
        <p:spPr>
          <a:xfrm>
            <a:off x="640080" y="4069080"/>
            <a:ext cx="5120640" cy="77724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srf error vs linear when an SRF width is 0.3 nm off</a:t>
            </a:r>
            <a:endParaRPr lang="en-US" sz="2000" dirty="0"/>
          </a:p>
        </p:txBody>
      </p:sp>
      <p:sp>
        <p:nvSpPr>
          <p:cNvPr id="12" name="Shape 10"/>
          <p:cNvSpPr/>
          <p:nvPr/>
        </p:nvSpPr>
        <p:spPr>
          <a:xfrm>
            <a:off x="6172200" y="3200400"/>
            <a:ext cx="5486400" cy="1737360"/>
          </a:xfrm>
          <a:prstGeom prst="roundRect">
            <a:avLst>
              <a:gd name="adj" fmla="val 5263"/>
            </a:avLst>
          </a:prstGeom>
          <a:solidFill>
            <a:srgbClr val="E6F0F1"/>
          </a:solidFill>
          <a:ln w="12700">
            <a:solidFill>
              <a:srgbClr val="E6F0F1"/>
            </a:solidFill>
            <a:prstDash val="solid"/>
          </a:ln>
        </p:spPr>
      </p:sp>
      <p:sp>
        <p:nvSpPr>
          <p:cNvPr id="13" name="Text 11"/>
          <p:cNvSpPr txBox="1"/>
          <p:nvPr/>
        </p:nvSpPr>
        <p:spPr>
          <a:xfrm>
            <a:off x="6355080" y="3310128"/>
            <a:ext cx="5120640"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−128 %</a:t>
            </a:r>
            <a:endParaRPr lang="en-US" sz="3600" dirty="0"/>
          </a:p>
        </p:txBody>
      </p:sp>
      <p:sp>
        <p:nvSpPr>
          <p:cNvPr id="14" name="Text 12"/>
          <p:cNvSpPr txBox="1"/>
          <p:nvPr/>
        </p:nvSpPr>
        <p:spPr>
          <a:xfrm>
            <a:off x="6355080" y="4069080"/>
            <a:ext cx="5120640" cy="77724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ruddick2023 in (iii): linear's smoothing hid part of the mismatch</a:t>
            </a:r>
            <a:endParaRPr lang="en-US" sz="2000" dirty="0"/>
          </a:p>
        </p:txBody>
      </p:sp>
      <p:sp>
        <p:nvSpPr>
          <p:cNvPr id="15" name="Text 13"/>
          <p:cNvSpPr txBox="1"/>
          <p:nvPr/>
        </p:nvSpPr>
        <p:spPr>
          <a:xfrm>
            <a:off x="457200" y="5257800"/>
            <a:ext cx="11277295" cy="9144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H1 alone gives 0.08 % rms ρw error near the lines, offset + residual mismatch 0.46 %.  The 0.5–2 % floor seen on these instruments needs something else.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srf restores the controls; the others distort them</a:t>
            </a:r>
            <a:endParaRPr lang="en-US" sz="3400" dirty="0"/>
          </a:p>
        </p:txBody>
      </p:sp>
      <p:pic>
        <p:nvPicPr>
          <p:cNvPr id="3" name="Image 0" descr="/Users/xavier/Oceanography/python/hypernet/hypernet/wiggles/figs/phase1/twin_controls.png">    </p:cNvPr>
          <p:cNvPicPr>
            <a:picLocks noChangeAspect="1"/>
          </p:cNvPicPr>
          <p:nvPr/>
        </p:nvPicPr>
        <p:blipFill>
          <a:blip r:embed="rId1"/>
          <a:stretch>
            <a:fillRect/>
          </a:stretch>
        </p:blipFill>
        <p:spPr>
          <a:xfrm>
            <a:off x="457200" y="1188720"/>
            <a:ext cx="6400800" cy="418513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132320" y="1188720"/>
          <a:ext cx="4602175" cy="914400"/>
        </p:xfrm>
        <a:graphic>
          <a:graphicData uri="http://schemas.openxmlformats.org/drawingml/2006/table">
            <a:tbl>
              <a:tblPr/>
              <a:tblGrid>
                <a:gridCol w="2057400"/>
                <a:gridCol w="1307592"/>
                <a:gridCol w="1280160"/>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122304 (iii)</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fluor.</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Raman</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B7F5A"/>
                          </a:solidFill>
                          <a:latin typeface="Calibri" pitchFamily="34" charset="0"/>
                          <a:ea typeface="Calibri" pitchFamily="34" charset="-122"/>
                          <a:cs typeface="Calibri" pitchFamily="34" charset="-120"/>
                        </a:rPr>
                        <a:t>linear</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22 %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44 %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B7F5A"/>
                          </a:solidFill>
                          <a:latin typeface="Calibri" pitchFamily="34" charset="0"/>
                          <a:ea typeface="Calibri" pitchFamily="34" charset="-122"/>
                          <a:cs typeface="Calibri" pitchFamily="34" charset="-120"/>
                        </a:rPr>
                        <a:t>ruddick2023</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31 %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46 %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B7F5A"/>
                          </a:solidFill>
                          <a:latin typeface="Calibri" pitchFamily="34" charset="0"/>
                          <a:ea typeface="Calibri" pitchFamily="34" charset="-122"/>
                          <a:cs typeface="Calibri" pitchFamily="34" charset="-120"/>
                        </a:rPr>
                        <a:t>srf</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bl>
          </a:graphicData>
        </a:graphic>
      </p:graphicFrame>
      <p:sp>
        <p:nvSpPr>
          <p:cNvPr id="5" name="Text 1"/>
          <p:cNvSpPr txBox="1"/>
          <p:nvPr/>
        </p:nvSpPr>
        <p:spPr>
          <a:xfrm>
            <a:off x="7132320" y="3154680"/>
            <a:ext cx="4602175" cy="82296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Change in each control's ρw″, as a fraction of the control itself</a:t>
            </a:r>
            <a:endParaRPr lang="en-US" sz="2000" dirty="0"/>
          </a:p>
        </p:txBody>
      </p:sp>
      <p:sp>
        <p:nvSpPr>
          <p:cNvPr id="6" name="Text 2"/>
          <p:cNvSpPr txBox="1"/>
          <p:nvPr/>
        </p:nvSpPr>
        <p:spPr>
          <a:xfrm>
            <a:off x="7132320" y="4069080"/>
            <a:ext cx="4602175" cy="2377440"/>
          </a:xfrm>
          <a:prstGeom prst="rect">
            <a:avLst/>
          </a:prstGeom>
          <a:noFill/>
          <a:ln/>
        </p:spPr>
        <p:txBody>
          <a:bodyPr wrap="square" lIns="635" tIns="635" rIns="635" bIns="635" rtlCol="0" anchor="t"/>
          <a:lstStyle/>
          <a:p>
            <a:pPr marL="342900" indent="-342900">
              <a:spcAft>
                <a:spcPts val="1200"/>
              </a:spcAft>
              <a:buSzPct val="100000"/>
              <a:buChar char="•"/>
            </a:pPr>
            <a:r>
              <a:rPr lang="en-US" sz="2000" dirty="0">
                <a:solidFill>
                  <a:srgbClr val="1F2A30"/>
                </a:solidFill>
                <a:latin typeface="Calibri" pitchFamily="34" charset="0"/>
                <a:ea typeface="Calibri" pitchFamily="34" charset="-122"/>
                <a:cs typeface="Calibri" pitchFamily="34" charset="-120"/>
              </a:rPr>
              <a:t>No method moves a control by more than 0.20 of the noise floor</a:t>
            </a:r>
            <a:endParaRPr lang="en-US" sz="2000" dirty="0"/>
          </a:p>
          <a:p>
            <a:pPr marL="342900" indent="-342900">
              <a:spcAft>
                <a:spcPts val="1200"/>
              </a:spcAft>
              <a:buSzPct val="100000"/>
              <a:buChar char="•"/>
            </a:pPr>
            <a:r>
              <a:rPr lang="en-US" sz="2000" dirty="0">
                <a:solidFill>
                  <a:srgbClr val="1F2A30"/>
                </a:solidFill>
                <a:latin typeface="Calibri" pitchFamily="34" charset="0"/>
                <a:ea typeface="Calibri" pitchFamily="34" charset="-122"/>
                <a:cs typeface="Calibri" pitchFamily="34" charset="-120"/>
              </a:rPr>
              <a:t>But the controls are themselves below one sequence's noise (0.17, 0.05)</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How srf degrades</a:t>
            </a:r>
            <a:endParaRPr lang="en-US" sz="3400" dirty="0"/>
          </a:p>
        </p:txBody>
      </p:sp>
      <p:pic>
        <p:nvPicPr>
          <p:cNvPr id="3" name="Image 0" descr="/Users/xavier/Oceanography/python/hypernet/hypernet/wiggles/figs/phase1/twin_degradation.png">    </p:cNvPr>
          <p:cNvPicPr>
            <a:picLocks noChangeAspect="1"/>
          </p:cNvPicPr>
          <p:nvPr/>
        </p:nvPicPr>
        <p:blipFill>
          <a:blip r:embed="rId1"/>
          <a:stretch>
            <a:fillRect/>
          </a:stretch>
        </p:blipFill>
        <p:spPr>
          <a:xfrm>
            <a:off x="457200" y="1097280"/>
            <a:ext cx="11277295" cy="4975277"/>
          </a:xfrm>
          <a:prstGeom prst="rect">
            <a:avLst/>
          </a:prstGeom>
        </p:spPr>
      </p:pic>
      <p:sp>
        <p:nvSpPr>
          <p:cNvPr id="4" name="Text 1"/>
          <p:cNvSpPr txBox="1"/>
          <p:nvPr/>
        </p:nvSpPr>
        <p:spPr>
          <a:xfrm>
            <a:off x="457200" y="6163997"/>
            <a:ext cx="11277295" cy="45720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Case (iii) with one error swept; medians over 25 scenes.  Top 122304, bottom 122305.</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What srf needs to keep 80 % (122304)</a:t>
            </a:r>
            <a:endParaRPr lang="en-US" sz="3400" dirty="0"/>
          </a:p>
        </p:txBody>
      </p:sp>
      <p:sp>
        <p:nvSpPr>
          <p:cNvPr id="3" name="Shape 1"/>
          <p:cNvSpPr/>
          <p:nvPr/>
        </p:nvSpPr>
        <p:spPr>
          <a:xfrm>
            <a:off x="457200" y="1234440"/>
            <a:ext cx="5486400" cy="1874520"/>
          </a:xfrm>
          <a:prstGeom prst="roundRect">
            <a:avLst>
              <a:gd name="adj" fmla="val 4878"/>
            </a:avLst>
          </a:prstGeom>
          <a:solidFill>
            <a:srgbClr val="E6F0F1"/>
          </a:solidFill>
          <a:ln w="12700">
            <a:solidFill>
              <a:srgbClr val="E6F0F1"/>
            </a:solidFill>
            <a:prstDash val="solid"/>
          </a:ln>
        </p:spPr>
      </p:sp>
      <p:sp>
        <p:nvSpPr>
          <p:cNvPr id="4" name="Text 2"/>
          <p:cNvSpPr txBox="1"/>
          <p:nvPr/>
        </p:nvSpPr>
        <p:spPr>
          <a:xfrm>
            <a:off x="640080" y="1344168"/>
            <a:ext cx="5120640"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 0.05 nm</a:t>
            </a:r>
            <a:endParaRPr lang="en-US" sz="3600" dirty="0"/>
          </a:p>
        </p:txBody>
      </p:sp>
      <p:sp>
        <p:nvSpPr>
          <p:cNvPr id="5" name="Text 3"/>
          <p:cNvSpPr txBox="1"/>
          <p:nvPr/>
        </p:nvSpPr>
        <p:spPr>
          <a:xfrm>
            <a:off x="640080" y="2103120"/>
            <a:ext cx="5120640" cy="91440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E wavelength scale vs the model (shift: 80 %; 0.1 nm → 62 %, 0.3 nm → 13 %)</a:t>
            </a:r>
            <a:endParaRPr lang="en-US" sz="2000" dirty="0"/>
          </a:p>
        </p:txBody>
      </p:sp>
      <p:sp>
        <p:nvSpPr>
          <p:cNvPr id="6" name="Shape 4"/>
          <p:cNvSpPr/>
          <p:nvPr/>
        </p:nvSpPr>
        <p:spPr>
          <a:xfrm>
            <a:off x="6172200" y="1234440"/>
            <a:ext cx="5486400" cy="1874520"/>
          </a:xfrm>
          <a:prstGeom prst="roundRect">
            <a:avLst>
              <a:gd name="adj" fmla="val 4878"/>
            </a:avLst>
          </a:prstGeom>
          <a:solidFill>
            <a:srgbClr val="E6F0F1"/>
          </a:solidFill>
          <a:ln w="12700">
            <a:solidFill>
              <a:srgbClr val="E6F0F1"/>
            </a:solidFill>
            <a:prstDash val="solid"/>
          </a:ln>
        </p:spPr>
      </p:sp>
      <p:sp>
        <p:nvSpPr>
          <p:cNvPr id="7" name="Text 5"/>
          <p:cNvSpPr txBox="1"/>
          <p:nvPr/>
        </p:nvSpPr>
        <p:spPr>
          <a:xfrm>
            <a:off x="6355080" y="1344168"/>
            <a:ext cx="5120640" cy="777240"/>
          </a:xfrm>
          <a:prstGeom prst="rect">
            <a:avLst/>
          </a:prstGeom>
          <a:noFill/>
          <a:ln/>
        </p:spPr>
        <p:txBody>
          <a:bodyPr wrap="square" lIns="0" tIns="0" rIns="0" bIns="0" rtlCol="0" anchor="ctr"/>
          <a:lstStyle/>
          <a:p>
            <a:pPr indent="0" marL="0">
              <a:buNone/>
            </a:pPr>
            <a:r>
              <a:rPr lang="en-US" sz="3600" b="1" dirty="0">
                <a:solidFill>
                  <a:srgbClr val="D9542C"/>
                </a:solidFill>
                <a:latin typeface="Cambria" pitchFamily="34" charset="0"/>
                <a:ea typeface="Cambria" pitchFamily="34" charset="-122"/>
                <a:cs typeface="Cambria" pitchFamily="34" charset="-120"/>
              </a:rPr>
              <a:t>≲ 0.07 nm</a:t>
            </a:r>
            <a:endParaRPr lang="en-US" sz="3600" dirty="0"/>
          </a:p>
        </p:txBody>
      </p:sp>
      <p:sp>
        <p:nvSpPr>
          <p:cNvPr id="8" name="Text 6"/>
          <p:cNvSpPr txBox="1"/>
          <p:nvPr/>
        </p:nvSpPr>
        <p:spPr>
          <a:xfrm>
            <a:off x="6355080" y="2103120"/>
            <a:ext cx="5120640" cy="91440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FWHM_E error (0.05 nm → 86 %, 0.1 nm → 73 %)</a:t>
            </a:r>
            <a:endParaRPr lang="en-US" sz="2000" dirty="0"/>
          </a:p>
        </p:txBody>
      </p:sp>
      <p:sp>
        <p:nvSpPr>
          <p:cNvPr id="9" name="Shape 7"/>
          <p:cNvSpPr/>
          <p:nvPr/>
        </p:nvSpPr>
        <p:spPr>
          <a:xfrm>
            <a:off x="457200" y="3337560"/>
            <a:ext cx="5486400" cy="1874520"/>
          </a:xfrm>
          <a:prstGeom prst="roundRect">
            <a:avLst>
              <a:gd name="adj" fmla="val 4878"/>
            </a:avLst>
          </a:prstGeom>
          <a:solidFill>
            <a:srgbClr val="E6F0F1"/>
          </a:solidFill>
          <a:ln w="12700">
            <a:solidFill>
              <a:srgbClr val="E6F0F1"/>
            </a:solidFill>
            <a:prstDash val="solid"/>
          </a:ln>
        </p:spPr>
      </p:sp>
      <p:sp>
        <p:nvSpPr>
          <p:cNvPr id="10" name="Text 8"/>
          <p:cNvSpPr txBox="1"/>
          <p:nvPr/>
        </p:nvSpPr>
        <p:spPr>
          <a:xfrm>
            <a:off x="640080" y="3447288"/>
            <a:ext cx="5120640" cy="777240"/>
          </a:xfrm>
          <a:prstGeom prst="rect">
            <a:avLst/>
          </a:prstGeom>
          <a:noFill/>
          <a:ln/>
        </p:spPr>
        <p:txBody>
          <a:bodyPr wrap="square" lIns="0" tIns="0" rIns="0" bIns="0" rtlCol="0" anchor="ctr"/>
          <a:lstStyle/>
          <a:p>
            <a:pPr indent="0" marL="0">
              <a:buNone/>
            </a:pPr>
            <a:r>
              <a:rPr lang="en-US" sz="3600" b="1" dirty="0">
                <a:solidFill>
                  <a:srgbClr val="13505B"/>
                </a:solidFill>
                <a:latin typeface="Cambria" pitchFamily="34" charset="0"/>
                <a:ea typeface="Cambria" pitchFamily="34" charset="-122"/>
                <a:cs typeface="Cambria" pitchFamily="34" charset="-120"/>
              </a:rPr>
              <a:t>≲ 0.1 nm</a:t>
            </a:r>
            <a:endParaRPr lang="en-US" sz="3600" dirty="0"/>
          </a:p>
        </p:txBody>
      </p:sp>
      <p:sp>
        <p:nvSpPr>
          <p:cNvPr id="11" name="Text 9"/>
          <p:cNvSpPr txBox="1"/>
          <p:nvPr/>
        </p:nvSpPr>
        <p:spPr>
          <a:xfrm>
            <a:off x="640080" y="4206240"/>
            <a:ext cx="5120640" cy="91440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FWHM_L error (0.1 nm → 82 %)</a:t>
            </a:r>
            <a:endParaRPr lang="en-US" sz="2000" dirty="0"/>
          </a:p>
        </p:txBody>
      </p:sp>
      <p:sp>
        <p:nvSpPr>
          <p:cNvPr id="12" name="Shape 10"/>
          <p:cNvSpPr/>
          <p:nvPr/>
        </p:nvSpPr>
        <p:spPr>
          <a:xfrm>
            <a:off x="6172200" y="3337560"/>
            <a:ext cx="5486400" cy="1874520"/>
          </a:xfrm>
          <a:prstGeom prst="roundRect">
            <a:avLst>
              <a:gd name="adj" fmla="val 4878"/>
            </a:avLst>
          </a:prstGeom>
          <a:solidFill>
            <a:srgbClr val="E6F0F1"/>
          </a:solidFill>
          <a:ln w="12700">
            <a:solidFill>
              <a:srgbClr val="E6F0F1"/>
            </a:solidFill>
            <a:prstDash val="solid"/>
          </a:ln>
        </p:spPr>
      </p:sp>
      <p:sp>
        <p:nvSpPr>
          <p:cNvPr id="13" name="Text 11"/>
          <p:cNvSpPr txBox="1"/>
          <p:nvPr/>
        </p:nvSpPr>
        <p:spPr>
          <a:xfrm>
            <a:off x="6355080" y="3447288"/>
            <a:ext cx="5120640" cy="777240"/>
          </a:xfrm>
          <a:prstGeom prst="rect">
            <a:avLst/>
          </a:prstGeom>
          <a:noFill/>
          <a:ln/>
        </p:spPr>
        <p:txBody>
          <a:bodyPr wrap="square" lIns="0" tIns="0" rIns="0" bIns="0" rtlCol="0" anchor="ctr"/>
          <a:lstStyle/>
          <a:p>
            <a:pPr indent="0" marL="0">
              <a:buNone/>
            </a:pPr>
            <a:r>
              <a:rPr lang="en-US" sz="3600" b="1" dirty="0">
                <a:solidFill>
                  <a:srgbClr val="1B7F5A"/>
                </a:solidFill>
                <a:latin typeface="Cambria" pitchFamily="34" charset="0"/>
                <a:ea typeface="Cambria" pitchFamily="34" charset="-122"/>
                <a:cs typeface="Cambria" pitchFamily="34" charset="-120"/>
              </a:rPr>
              <a:t>≥ 98 %</a:t>
            </a:r>
            <a:endParaRPr lang="en-US" sz="3600" dirty="0"/>
          </a:p>
        </p:txBody>
      </p:sp>
      <p:sp>
        <p:nvSpPr>
          <p:cNvPr id="14" name="Text 12"/>
          <p:cNvSpPr txBox="1"/>
          <p:nvPr/>
        </p:nvSpPr>
        <p:spPr>
          <a:xfrm>
            <a:off x="6355080" y="4206240"/>
            <a:ext cx="5120640" cy="914400"/>
          </a:xfrm>
          <a:prstGeom prst="rect">
            <a:avLst/>
          </a:prstGeom>
          <a:noFill/>
          <a:ln/>
        </p:spPr>
        <p:txBody>
          <a:bodyPr wrap="square" lIns="0" tIns="0" rIns="0" bIns="0" rtlCol="0" anchor="t"/>
          <a:lstStyle/>
          <a:p>
            <a:pPr indent="0" marL="0">
              <a:buNone/>
            </a:pPr>
            <a:r>
              <a:rPr lang="en-US" sz="2000" dirty="0">
                <a:solidFill>
                  <a:srgbClr val="1F2A30"/>
                </a:solidFill>
                <a:latin typeface="Calibri" pitchFamily="34" charset="0"/>
                <a:ea typeface="Calibri" pitchFamily="34" charset="-122"/>
                <a:cs typeface="Calibri" pitchFamily="34" charset="-120"/>
              </a:rPr>
              <a:t>kept with the Emod at SZA ± 10° or water vapour × 0.5–3</a:t>
            </a:r>
            <a:endParaRPr lang="en-US" sz="2000" dirty="0"/>
          </a:p>
        </p:txBody>
      </p:sp>
      <p:sp>
        <p:nvSpPr>
          <p:cNvPr id="15" name="Text 13"/>
          <p:cNvSpPr txBox="1"/>
          <p:nvPr/>
        </p:nvSpPr>
        <p:spPr>
          <a:xfrm>
            <a:off x="457200" y="5623560"/>
            <a:ext cx="11277295" cy="82296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Phase 0: SRFs stable to 0.01–0.06 nm (meets the width tolerances); a dispersion trend &gt; 0.1 nm at the ends (does not meet the wavelength one).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Prediction for Phase 3</a:t>
            </a:r>
            <a:endParaRPr lang="en-US" sz="3400" dirty="0"/>
          </a:p>
        </p:txBody>
      </p:sp>
      <p:pic>
        <p:nvPicPr>
          <p:cNvPr id="3" name="Image 0" descr="/Users/xavier/Oceanography/python/hypernet/hypernet/wiggles/figs/phase1/twin_prediction.png">    </p:cNvPr>
          <p:cNvPicPr>
            <a:picLocks noChangeAspect="1"/>
          </p:cNvPicPr>
          <p:nvPr/>
        </p:nvPicPr>
        <p:blipFill>
          <a:blip r:embed="rId1"/>
          <a:stretch>
            <a:fillRect/>
          </a:stretch>
        </p:blipFill>
        <p:spPr>
          <a:xfrm>
            <a:off x="457200" y="1188720"/>
            <a:ext cx="11277295" cy="3665121"/>
          </a:xfrm>
          <a:prstGeom prst="rect">
            <a:avLst/>
          </a:prstGeom>
        </p:spPr>
      </p:pic>
      <p:sp>
        <p:nvSpPr>
          <p:cNvPr id="4" name="Text 1"/>
          <p:cNvSpPr txBox="1"/>
          <p:nvPr/>
        </p:nvSpPr>
        <p:spPr>
          <a:xfrm>
            <a:off x="457200" y="5036721"/>
            <a:ext cx="11277295" cy="1546959"/>
          </a:xfrm>
          <a:prstGeom prst="rect">
            <a:avLst/>
          </a:prstGeom>
          <a:noFill/>
          <a:ln/>
        </p:spPr>
        <p:txBody>
          <a:bodyPr wrap="square" lIns="635" tIns="635" rIns="635" bIns="635" rtlCol="0" anchor="t"/>
          <a:lstStyle/>
          <a:p>
            <a:pPr marL="342900" indent="-342900">
              <a:spcAft>
                <a:spcPts val="1200"/>
              </a:spcAft>
              <a:buSzPct val="100000"/>
              <a:buChar char="•"/>
            </a:pPr>
            <a:r>
              <a:rPr lang="en-US" sz="2000" dirty="0">
                <a:solidFill>
                  <a:srgbClr val="1F2A30"/>
                </a:solidFill>
                <a:latin typeface="Calibri" pitchFamily="34" charset="0"/>
                <a:ea typeface="Calibri" pitchFamily="34" charset="-122"/>
                <a:cs typeface="Calibri" pitchFamily="34" charset="-120"/>
              </a:rPr>
              <a:t>Phase 3 has no truth, so G3 uses the observable excess √(rms²near − rms²away) of ρw″</a:t>
            </a:r>
            <a:endParaRPr lang="en-US" sz="2000" dirty="0"/>
          </a:p>
          <a:p>
            <a:pPr marL="342900" indent="-342900">
              <a:spcAft>
                <a:spcPts val="1200"/>
              </a:spcAft>
              <a:buSzPct val="100000"/>
              <a:buChar char="•"/>
            </a:pPr>
            <a:r>
              <a:rPr lang="en-US" sz="2000" dirty="0">
                <a:solidFill>
                  <a:srgbClr val="1F2A30"/>
                </a:solidFill>
                <a:latin typeface="Calibri" pitchFamily="34" charset="0"/>
                <a:ea typeface="Calibri" pitchFamily="34" charset="-122"/>
                <a:cs typeface="Calibri" pitchFamily="34" charset="-120"/>
              </a:rPr>
              <a:t>Per line, the gain follows signal-to-noise: Ca H/K best, H₂O and O₂-A noise-limited</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The yardstick for gate G3</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7295" cy="914400"/>
        </p:xfrm>
        <a:graphic>
          <a:graphicData uri="http://schemas.openxmlformats.org/drawingml/2006/table">
            <a:tbl>
              <a:tblPr/>
              <a:tblGrid>
                <a:gridCol w="3962095"/>
                <a:gridCol w="1219200"/>
                <a:gridCol w="1219200"/>
                <a:gridCol w="1219200"/>
                <a:gridCol w="1219200"/>
                <a:gridCol w="1219200"/>
                <a:gridCol w="1219200"/>
              </a:tblGrid>
              <a:tr h="45720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srf, one sequence, h = 1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0.1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0.2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0.3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0.5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0.7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1 nm</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13505B"/>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noise only</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11 %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31 %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52 %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74 %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84 %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90 %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+ 0.05 nm λ and FWHM errors</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21 %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39 %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62 %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73 %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80 %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FFFFFF"/>
                    </a:solidFill>
                  </a:tcPr>
                </a:tc>
              </a:tr>
              <a:tr h="457200">
                <a:tc>
                  <a:txBody>
                    <a:bodyPr/>
                    <a:lstStyle/>
                    <a:p>
                      <a:pPr algn="l" indent="0" marL="0">
                        <a:buNone/>
                      </a:pPr>
                      <a:r>
                        <a:rPr lang="en-US" sz="2000" b="1" dirty="0">
                          <a:solidFill>
                            <a:srgbClr val="1F2A30"/>
                          </a:solidFill>
                          <a:latin typeface="Calibri" pitchFamily="34" charset="0"/>
                          <a:ea typeface="Calibri" pitchFamily="34" charset="-122"/>
                          <a:cs typeface="Calibri" pitchFamily="34" charset="-120"/>
                        </a:rPr>
                        <a:t>perfect correction</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71 %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80 %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87 %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92 %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94 %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c>
                  <a:txBody>
                    <a:bodyPr/>
                    <a:lstStyle/>
                    <a:p>
                      <a:pPr algn="ctr" indent="0" marL="0">
                        <a:buNone/>
                      </a:pPr>
                      <a:r>
                        <a:rPr lang="en-US" sz="2000" dirty="0">
                          <a:solidFill>
                            <a:srgbClr val="1F2A30"/>
                          </a:solidFill>
                          <a:latin typeface="Calibri" pitchFamily="34" charset="0"/>
                          <a:ea typeface="Calibri" pitchFamily="34" charset="-122"/>
                          <a:cs typeface="Calibri" pitchFamily="34" charset="-120"/>
                        </a:rPr>
                        <a:t>96 %</a:t>
                      </a:r>
                      <a:endParaRPr lang="en-US" sz="2000" dirty="0">
                        <a:latin typeface="Calibri" charset="0"/>
                        <a:ea typeface="Calibri" charset="0"/>
                        <a:cs typeface="Calibri" charset="0"/>
                      </a:endParaRPr>
                    </a:p>
                  </a:txBody>
                  <a:tcPr marL="91440" marR="91440" marT="27432" marB="27432" anchor="ctr">
                    <a:lnL w="9525" cap="flat" cmpd="sng" algn="ctr">
                      <a:solidFill>
                        <a:srgbClr val="C9D8DA"/>
                      </a:solidFill>
                      <a:prstDash val="solid"/>
                      <a:round/>
                      <a:headEnd type="none" w="med" len="med"/>
                      <a:tailEnd type="none" w="med" len="med"/>
                    </a:lnL>
                    <a:lnR w="9525" cap="flat" cmpd="sng" algn="ctr">
                      <a:solidFill>
                        <a:srgbClr val="C9D8DA"/>
                      </a:solidFill>
                      <a:prstDash val="solid"/>
                      <a:round/>
                      <a:headEnd type="none" w="med" len="med"/>
                      <a:tailEnd type="none" w="med" len="med"/>
                    </a:lnR>
                    <a:lnT w="9525" cap="flat" cmpd="sng" algn="ctr">
                      <a:solidFill>
                        <a:srgbClr val="C9D8DA"/>
                      </a:solidFill>
                      <a:prstDash val="solid"/>
                      <a:round/>
                      <a:headEnd type="none" w="med" len="med"/>
                      <a:tailEnd type="none" w="med" len="med"/>
                    </a:lnT>
                    <a:lnB w="9525" cap="flat" cmpd="sng" algn="ctr">
                      <a:solidFill>
                        <a:srgbClr val="C9D8DA"/>
                      </a:solidFill>
                      <a:prstDash val="solid"/>
                      <a:round/>
                      <a:headEnd type="none" w="med" len="med"/>
                      <a:tailEnd type="none" w="med" len="med"/>
                    </a:lnB>
                    <a:solidFill>
                      <a:srgbClr val="E6F0F1"/>
                    </a:solidFill>
                  </a:tcPr>
                </a:tc>
              </a:tr>
            </a:tbl>
          </a:graphicData>
        </a:graphic>
      </p:graphicFrame>
      <p:sp>
        <p:nvSpPr>
          <p:cNvPr id="4" name="Text 1"/>
          <p:cNvSpPr txBox="1"/>
          <p:nvPr/>
        </p:nvSpPr>
        <p:spPr>
          <a:xfrm>
            <a:off x="457200" y="3200400"/>
            <a:ext cx="11277295" cy="731520"/>
          </a:xfrm>
          <a:prstGeom prst="rect">
            <a:avLst/>
          </a:prstGeom>
          <a:noFill/>
          <a:ln/>
        </p:spPr>
        <p:txBody>
          <a:bodyPr wrap="square" lIns="0" tIns="0" rIns="0" bIns="0" rtlCol="0" anchor="ctr"/>
          <a:lstStyle/>
          <a:p>
            <a:pPr indent="0" marL="0">
              <a:buNone/>
            </a:pPr>
            <a:r>
              <a:rPr lang="en-US" sz="2000" i="1" dirty="0">
                <a:solidFill>
                  <a:srgbClr val="4A5A60"/>
                </a:solidFill>
                <a:latin typeface="Calibri" pitchFamily="34" charset="0"/>
                <a:ea typeface="Calibri" pitchFamily="34" charset="-122"/>
                <a:cs typeface="Calibri" pitchFamily="34" charset="-120"/>
              </a:rPr>
              <a:t>Reduction of the observable excess vs linear, by FWHM_L − FWHM_E.  At the narrow-E 0.5 nm: 60–75 %.  Below 0.1 nm: little to gain.</a:t>
            </a:r>
            <a:endParaRPr lang="en-US" sz="2000" dirty="0"/>
          </a:p>
        </p:txBody>
      </p:sp>
      <p:sp>
        <p:nvSpPr>
          <p:cNvPr id="5" name="Text 2"/>
          <p:cNvSpPr txBox="1"/>
          <p:nvPr/>
        </p:nvSpPr>
        <p:spPr>
          <a:xfrm>
            <a:off x="457200" y="4114800"/>
            <a:ext cx="11277295" cy="457200"/>
          </a:xfrm>
          <a:prstGeom prst="rect">
            <a:avLst/>
          </a:prstGeom>
          <a:noFill/>
          <a:ln/>
        </p:spPr>
        <p:txBody>
          <a:bodyPr wrap="square" lIns="0" tIns="0" rIns="0" bIns="0" rtlCol="0" anchor="ctr"/>
          <a:lstStyle/>
          <a:p>
            <a:pPr indent="0" marL="0">
              <a:buNone/>
            </a:pPr>
            <a:r>
              <a:rPr lang="en-US" sz="2200" b="1" dirty="0">
                <a:solidFill>
                  <a:srgbClr val="1F2A30"/>
                </a:solidFill>
                <a:latin typeface="Cambria" pitchFamily="34" charset="0"/>
                <a:ea typeface="Cambria" pitchFamily="34" charset="-122"/>
                <a:cs typeface="Cambria" pitchFamily="34" charset="-120"/>
              </a:rPr>
              <a:t>Per line at 0.5 nm (noise only):</a:t>
            </a:r>
            <a:endParaRPr lang="en-US" sz="2200" dirty="0"/>
          </a:p>
        </p:txBody>
      </p:sp>
      <p:sp>
        <p:nvSpPr>
          <p:cNvPr id="6" name="Text 3"/>
          <p:cNvSpPr txBox="1"/>
          <p:nvPr/>
        </p:nvSpPr>
        <p:spPr>
          <a:xfrm>
            <a:off x="457200" y="4617720"/>
            <a:ext cx="11277295" cy="914400"/>
          </a:xfrm>
          <a:prstGeom prst="rect">
            <a:avLst/>
          </a:prstGeom>
          <a:noFill/>
          <a:ln/>
        </p:spPr>
        <p:txBody>
          <a:bodyPr wrap="square" lIns="0" tIns="0" rIns="0" bIns="0" rtlCol="0" anchor="t"/>
          <a:lstStyle/>
          <a:p>
            <a:pPr indent="0" marL="0">
              <a:buNone/>
            </a:pPr>
            <a:r>
              <a:rPr lang="en-US" sz="2200" dirty="0">
                <a:solidFill>
                  <a:srgbClr val="1F2A30"/>
                </a:solidFill>
                <a:latin typeface="Calibri" pitchFamily="34" charset="0"/>
                <a:ea typeface="Calibri" pitchFamily="34" charset="-122"/>
                <a:cs typeface="Calibri" pitchFamily="34" charset="-120"/>
              </a:rPr>
              <a:t>Ca K 78 %   ·   </a:t>
            </a:r>
            <a:pPr indent="0" marL="0">
              <a:buNone/>
            </a:pPr>
            <a:r>
              <a:rPr lang="en-US" sz="2200" dirty="0">
                <a:solidFill>
                  <a:srgbClr val="1F2A30"/>
                </a:solidFill>
                <a:latin typeface="Calibri" pitchFamily="34" charset="0"/>
                <a:ea typeface="Calibri" pitchFamily="34" charset="-122"/>
                <a:cs typeface="Calibri" pitchFamily="34" charset="-120"/>
              </a:rPr>
              <a:t>G band 65 %   ·   </a:t>
            </a:r>
            <a:pPr indent="0" marL="0">
              <a:buNone/>
            </a:pPr>
            <a:r>
              <a:rPr lang="en-US" sz="2200" dirty="0">
                <a:solidFill>
                  <a:srgbClr val="1F2A30"/>
                </a:solidFill>
                <a:latin typeface="Calibri" pitchFamily="34" charset="0"/>
                <a:ea typeface="Calibri" pitchFamily="34" charset="-122"/>
                <a:cs typeface="Calibri" pitchFamily="34" charset="-120"/>
              </a:rPr>
              <a:t>Hβ 43 %   ·   </a:t>
            </a:r>
            <a:pPr indent="0" marL="0">
              <a:buNone/>
            </a:pPr>
            <a:r>
              <a:rPr lang="en-US" sz="2200" dirty="0">
                <a:solidFill>
                  <a:srgbClr val="1F2A30"/>
                </a:solidFill>
                <a:latin typeface="Calibri" pitchFamily="34" charset="0"/>
                <a:ea typeface="Calibri" pitchFamily="34" charset="-122"/>
                <a:cs typeface="Calibri" pitchFamily="34" charset="-120"/>
              </a:rPr>
              <a:t>Na D 33 %   ·   </a:t>
            </a:r>
            <a:pPr indent="0" marL="0">
              <a:buNone/>
            </a:pPr>
            <a:r>
              <a:rPr lang="en-US" sz="2200" dirty="0">
                <a:solidFill>
                  <a:srgbClr val="1F2A30"/>
                </a:solidFill>
                <a:latin typeface="Calibri" pitchFamily="34" charset="0"/>
                <a:ea typeface="Calibri" pitchFamily="34" charset="-122"/>
                <a:cs typeface="Calibri" pitchFamily="34" charset="-120"/>
              </a:rPr>
              <a:t>O₂-B 36 %   ·   </a:t>
            </a:r>
            <a:pPr indent="0" marL="0">
              <a:buNone/>
            </a:pPr>
            <a:r>
              <a:rPr lang="en-US" sz="2200" dirty="0">
                <a:solidFill>
                  <a:srgbClr val="1F2A30"/>
                </a:solidFill>
                <a:latin typeface="Calibri" pitchFamily="34" charset="0"/>
                <a:ea typeface="Calibri" pitchFamily="34" charset="-122"/>
                <a:cs typeface="Calibri" pitchFamily="34" charset="-120"/>
              </a:rPr>
              <a:t>O₂-A 24 %   ·   </a:t>
            </a:r>
            <a:pPr indent="0" marL="0">
              <a:buNone/>
            </a:pPr>
            <a:r>
              <a:rPr lang="en-US" sz="2200" dirty="0">
                <a:solidFill>
                  <a:srgbClr val="1F2A30"/>
                </a:solidFill>
                <a:latin typeface="Calibri" pitchFamily="34" charset="0"/>
                <a:ea typeface="Calibri" pitchFamily="34" charset="-122"/>
                <a:cs typeface="Calibri" pitchFamily="34" charset="-120"/>
              </a:rPr>
              <a:t>Hα 13 %   ·   </a:t>
            </a:r>
            <a:pPr indent="0" marL="0">
              <a:buNone/>
            </a:pPr>
            <a:r>
              <a:rPr lang="en-US" sz="2200" dirty="0">
                <a:solidFill>
                  <a:srgbClr val="1F2A30"/>
                </a:solidFill>
                <a:latin typeface="Calibri" pitchFamily="34" charset="0"/>
                <a:ea typeface="Calibri" pitchFamily="34" charset="-122"/>
                <a:cs typeface="Calibri" pitchFamily="34" charset="-120"/>
              </a:rPr>
              <a:t>H₂O 1 %</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Gate G1: passed for narrow-E instruments</a:t>
            </a:r>
            <a:endParaRPr lang="en-US" sz="3400" dirty="0"/>
          </a:p>
        </p:txBody>
      </p:sp>
      <p:sp>
        <p:nvSpPr>
          <p:cNvPr id="3" name="Shape 1"/>
          <p:cNvSpPr/>
          <p:nvPr/>
        </p:nvSpPr>
        <p:spPr>
          <a:xfrm>
            <a:off x="457200" y="1234440"/>
            <a:ext cx="11277295" cy="868680"/>
          </a:xfrm>
          <a:prstGeom prst="roundRect">
            <a:avLst>
              <a:gd name="adj" fmla="val 10526"/>
            </a:avLst>
          </a:prstGeom>
          <a:solidFill>
            <a:srgbClr val="E6F0F1"/>
          </a:solidFill>
          <a:ln w="12700">
            <a:solidFill>
              <a:srgbClr val="E6F0F1"/>
            </a:solidFill>
            <a:prstDash val="solid"/>
          </a:ln>
        </p:spPr>
      </p:sp>
      <p:sp>
        <p:nvSpPr>
          <p:cNvPr id="4" name="Shape 2"/>
          <p:cNvSpPr/>
          <p:nvPr/>
        </p:nvSpPr>
        <p:spPr>
          <a:xfrm>
            <a:off x="594360" y="1325880"/>
            <a:ext cx="685800" cy="685800"/>
          </a:xfrm>
          <a:prstGeom prst="ellipse">
            <a:avLst/>
          </a:prstGeom>
          <a:solidFill>
            <a:srgbClr val="1B7F5A"/>
          </a:solidFill>
          <a:ln w="12700">
            <a:solidFill>
              <a:srgbClr val="1B7F5A"/>
            </a:solidFill>
            <a:prstDash val="solid"/>
          </a:ln>
        </p:spPr>
      </p:sp>
      <p:sp>
        <p:nvSpPr>
          <p:cNvPr id="5" name="Text 3"/>
          <p:cNvSpPr txBox="1"/>
          <p:nvPr/>
        </p:nvSpPr>
        <p:spPr>
          <a:xfrm>
            <a:off x="594360" y="13258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463040" y="1234440"/>
            <a:ext cx="3749040" cy="868680"/>
          </a:xfrm>
          <a:prstGeom prst="rect">
            <a:avLst/>
          </a:prstGeom>
          <a:noFill/>
          <a:ln/>
        </p:spPr>
        <p:txBody>
          <a:bodyPr wrap="square" lIns="0" tIns="0" rIns="0" bIns="0" rtlCol="0" anchor="ctr"/>
          <a:lstStyle/>
          <a:p>
            <a:pPr indent="0" marL="0">
              <a:buNone/>
            </a:pPr>
            <a:r>
              <a:rPr lang="en-US" sz="2200" b="1" dirty="0">
                <a:solidFill>
                  <a:srgbClr val="1F2A30"/>
                </a:solidFill>
                <a:latin typeface="Cambria" pitchFamily="34" charset="0"/>
                <a:ea typeface="Cambria" pitchFamily="34" charset="-122"/>
                <a:cs typeface="Cambria" pitchFamily="34" charset="-120"/>
              </a:rPr>
              <a:t>&gt; 80 % in (ii)–(iii)</a:t>
            </a:r>
            <a:endParaRPr lang="en-US" sz="2200" dirty="0"/>
          </a:p>
        </p:txBody>
      </p:sp>
      <p:sp>
        <p:nvSpPr>
          <p:cNvPr id="7" name="Text 5"/>
          <p:cNvSpPr txBox="1"/>
          <p:nvPr/>
        </p:nvSpPr>
        <p:spPr>
          <a:xfrm>
            <a:off x="5257800" y="1234440"/>
            <a:ext cx="4206240" cy="868680"/>
          </a:xfrm>
          <a:prstGeom prst="rect">
            <a:avLst/>
          </a:prstGeom>
          <a:noFill/>
          <a:ln/>
        </p:spPr>
        <p:txBody>
          <a:bodyPr wrap="square" lIns="0" tIns="0" rIns="0" bIns="0" rtlCol="0" anchor="ctr"/>
          <a:lstStyle/>
          <a:p>
            <a:pPr indent="0" marL="0">
              <a:buNone/>
            </a:pPr>
            <a:r>
              <a:rPr lang="en-US" sz="2000" dirty="0">
                <a:solidFill>
                  <a:srgbClr val="1F2A30"/>
                </a:solidFill>
                <a:latin typeface="Calibri" pitchFamily="34" charset="0"/>
                <a:ea typeface="Calibri" pitchFamily="34" charset="-122"/>
                <a:cs typeface="Calibri" pitchFamily="34" charset="-120"/>
              </a:rPr>
              <a:t>srf ~100 % on both instruments</a:t>
            </a:r>
            <a:endParaRPr lang="en-US" sz="2000" dirty="0"/>
          </a:p>
        </p:txBody>
      </p:sp>
      <p:sp>
        <p:nvSpPr>
          <p:cNvPr id="8" name="Text 6"/>
          <p:cNvSpPr txBox="1"/>
          <p:nvPr/>
        </p:nvSpPr>
        <p:spPr>
          <a:xfrm>
            <a:off x="9509760" y="1234440"/>
            <a:ext cx="2103120" cy="868680"/>
          </a:xfrm>
          <a:prstGeom prst="rect">
            <a:avLst/>
          </a:prstGeom>
          <a:noFill/>
          <a:ln/>
        </p:spPr>
        <p:txBody>
          <a:bodyPr wrap="square" lIns="0" tIns="0" rIns="0" bIns="0" rtlCol="0" anchor="ctr"/>
          <a:lstStyle/>
          <a:p>
            <a:pPr algn="r" indent="0" marL="0">
              <a:buNone/>
            </a:pPr>
            <a:r>
              <a:rPr lang="en-US" sz="2200" b="1" dirty="0">
                <a:solidFill>
                  <a:srgbClr val="1B7F5A"/>
                </a:solidFill>
                <a:latin typeface="Cambria" pitchFamily="34" charset="0"/>
                <a:ea typeface="Cambria" pitchFamily="34" charset="-122"/>
                <a:cs typeface="Cambria" pitchFamily="34" charset="-120"/>
              </a:rPr>
              <a:t>Pass</a:t>
            </a:r>
            <a:endParaRPr lang="en-US" sz="2200" dirty="0"/>
          </a:p>
        </p:txBody>
      </p:sp>
      <p:sp>
        <p:nvSpPr>
          <p:cNvPr id="9" name="Shape 7"/>
          <p:cNvSpPr/>
          <p:nvPr/>
        </p:nvSpPr>
        <p:spPr>
          <a:xfrm>
            <a:off x="457200" y="2258568"/>
            <a:ext cx="11277295" cy="868680"/>
          </a:xfrm>
          <a:prstGeom prst="roundRect">
            <a:avLst>
              <a:gd name="adj" fmla="val 10526"/>
            </a:avLst>
          </a:prstGeom>
          <a:solidFill>
            <a:srgbClr val="E6F0F1"/>
          </a:solidFill>
          <a:ln w="12700">
            <a:solidFill>
              <a:srgbClr val="E6F0F1"/>
            </a:solidFill>
            <a:prstDash val="solid"/>
          </a:ln>
        </p:spPr>
      </p:sp>
      <p:sp>
        <p:nvSpPr>
          <p:cNvPr id="10" name="Shape 8"/>
          <p:cNvSpPr/>
          <p:nvPr/>
        </p:nvSpPr>
        <p:spPr>
          <a:xfrm>
            <a:off x="594360" y="2350008"/>
            <a:ext cx="685800" cy="685800"/>
          </a:xfrm>
          <a:prstGeom prst="ellipse">
            <a:avLst/>
          </a:prstGeom>
          <a:solidFill>
            <a:srgbClr val="1B7F5A"/>
          </a:solidFill>
          <a:ln w="12700">
            <a:solidFill>
              <a:srgbClr val="1B7F5A"/>
            </a:solidFill>
            <a:prstDash val="solid"/>
          </a:ln>
        </p:spPr>
      </p:sp>
      <p:sp>
        <p:nvSpPr>
          <p:cNvPr id="11" name="Text 9"/>
          <p:cNvSpPr txBox="1"/>
          <p:nvPr/>
        </p:nvSpPr>
        <p:spPr>
          <a:xfrm>
            <a:off x="594360" y="2350008"/>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1463040" y="2258568"/>
            <a:ext cx="3749040" cy="868680"/>
          </a:xfrm>
          <a:prstGeom prst="rect">
            <a:avLst/>
          </a:prstGeom>
          <a:noFill/>
          <a:ln/>
        </p:spPr>
        <p:txBody>
          <a:bodyPr wrap="square" lIns="0" tIns="0" rIns="0" bIns="0" rtlCol="0" anchor="ctr"/>
          <a:lstStyle/>
          <a:p>
            <a:pPr indent="0" marL="0">
              <a:buNone/>
            </a:pPr>
            <a:r>
              <a:rPr lang="en-US" sz="2200" b="1" dirty="0">
                <a:solidFill>
                  <a:srgbClr val="1F2A30"/>
                </a:solidFill>
                <a:latin typeface="Cambria" pitchFamily="34" charset="0"/>
                <a:ea typeface="Cambria" pitchFamily="34" charset="-122"/>
                <a:cs typeface="Cambria" pitchFamily="34" charset="-120"/>
              </a:rPr>
              <a:t>Graceful in (iv)–(vi)</a:t>
            </a:r>
            <a:endParaRPr lang="en-US" sz="2200" dirty="0"/>
          </a:p>
        </p:txBody>
      </p:sp>
      <p:sp>
        <p:nvSpPr>
          <p:cNvPr id="13" name="Text 11"/>
          <p:cNvSpPr txBox="1"/>
          <p:nvPr/>
        </p:nvSpPr>
        <p:spPr>
          <a:xfrm>
            <a:off x="5257800" y="2258568"/>
            <a:ext cx="4206240" cy="868680"/>
          </a:xfrm>
          <a:prstGeom prst="rect">
            <a:avLst/>
          </a:prstGeom>
          <a:noFill/>
          <a:ln/>
        </p:spPr>
        <p:txBody>
          <a:bodyPr wrap="square" lIns="0" tIns="0" rIns="0" bIns="0" rtlCol="0" anchor="ctr"/>
          <a:lstStyle/>
          <a:p>
            <a:pPr indent="0" marL="0">
              <a:buNone/>
            </a:pPr>
            <a:r>
              <a:rPr lang="en-US" sz="2000" dirty="0">
                <a:solidFill>
                  <a:srgbClr val="1F2A30"/>
                </a:solidFill>
                <a:latin typeface="Calibri" pitchFamily="34" charset="0"/>
                <a:ea typeface="Calibri" pitchFamily="34" charset="-122"/>
                <a:cs typeface="Calibri" pitchFamily="34" charset="-120"/>
              </a:rPr>
              <a:t>narrow-E: yes, within the tolerances; E ≈ L: no</a:t>
            </a:r>
            <a:endParaRPr lang="en-US" sz="2000" dirty="0"/>
          </a:p>
        </p:txBody>
      </p:sp>
      <p:sp>
        <p:nvSpPr>
          <p:cNvPr id="14" name="Text 12"/>
          <p:cNvSpPr txBox="1"/>
          <p:nvPr/>
        </p:nvSpPr>
        <p:spPr>
          <a:xfrm>
            <a:off x="9509760" y="2258568"/>
            <a:ext cx="2103120" cy="868680"/>
          </a:xfrm>
          <a:prstGeom prst="rect">
            <a:avLst/>
          </a:prstGeom>
          <a:noFill/>
          <a:ln/>
        </p:spPr>
        <p:txBody>
          <a:bodyPr wrap="square" lIns="0" tIns="0" rIns="0" bIns="0" rtlCol="0" anchor="ctr"/>
          <a:lstStyle/>
          <a:p>
            <a:pPr algn="r" indent="0" marL="0">
              <a:buNone/>
            </a:pPr>
            <a:r>
              <a:rPr lang="en-US" sz="2200" b="1" dirty="0">
                <a:solidFill>
                  <a:srgbClr val="1B7F5A"/>
                </a:solidFill>
                <a:latin typeface="Cambria" pitchFamily="34" charset="0"/>
                <a:ea typeface="Cambria" pitchFamily="34" charset="-122"/>
                <a:cs typeface="Cambria" pitchFamily="34" charset="-120"/>
              </a:rPr>
              <a:t>Pass*</a:t>
            </a:r>
            <a:endParaRPr lang="en-US" sz="2200" dirty="0"/>
          </a:p>
        </p:txBody>
      </p:sp>
      <p:sp>
        <p:nvSpPr>
          <p:cNvPr id="15" name="Shape 13"/>
          <p:cNvSpPr/>
          <p:nvPr/>
        </p:nvSpPr>
        <p:spPr>
          <a:xfrm>
            <a:off x="457200" y="3282696"/>
            <a:ext cx="11277295" cy="868680"/>
          </a:xfrm>
          <a:prstGeom prst="roundRect">
            <a:avLst>
              <a:gd name="adj" fmla="val 10526"/>
            </a:avLst>
          </a:prstGeom>
          <a:solidFill>
            <a:srgbClr val="E6F0F1"/>
          </a:solidFill>
          <a:ln w="12700">
            <a:solidFill>
              <a:srgbClr val="E6F0F1"/>
            </a:solidFill>
            <a:prstDash val="solid"/>
          </a:ln>
        </p:spPr>
      </p:sp>
      <p:sp>
        <p:nvSpPr>
          <p:cNvPr id="16" name="Shape 14"/>
          <p:cNvSpPr/>
          <p:nvPr/>
        </p:nvSpPr>
        <p:spPr>
          <a:xfrm>
            <a:off x="594360" y="3374136"/>
            <a:ext cx="685800" cy="685800"/>
          </a:xfrm>
          <a:prstGeom prst="ellipse">
            <a:avLst/>
          </a:prstGeom>
          <a:solidFill>
            <a:srgbClr val="1B7F5A"/>
          </a:solidFill>
          <a:ln w="12700">
            <a:solidFill>
              <a:srgbClr val="1B7F5A"/>
            </a:solidFill>
            <a:prstDash val="solid"/>
          </a:ln>
        </p:spPr>
      </p:sp>
      <p:sp>
        <p:nvSpPr>
          <p:cNvPr id="17" name="Text 15"/>
          <p:cNvSpPr txBox="1"/>
          <p:nvPr/>
        </p:nvSpPr>
        <p:spPr>
          <a:xfrm>
            <a:off x="594360" y="3374136"/>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1463040" y="3282696"/>
            <a:ext cx="3749040" cy="868680"/>
          </a:xfrm>
          <a:prstGeom prst="rect">
            <a:avLst/>
          </a:prstGeom>
          <a:noFill/>
          <a:ln/>
        </p:spPr>
        <p:txBody>
          <a:bodyPr wrap="square" lIns="0" tIns="0" rIns="0" bIns="0" rtlCol="0" anchor="ctr"/>
          <a:lstStyle/>
          <a:p>
            <a:pPr indent="0" marL="0">
              <a:buNone/>
            </a:pPr>
            <a:r>
              <a:rPr lang="en-US" sz="2200" b="1" dirty="0">
                <a:solidFill>
                  <a:srgbClr val="1F2A30"/>
                </a:solidFill>
                <a:latin typeface="Cambria" pitchFamily="34" charset="0"/>
                <a:ea typeface="Cambria" pitchFamily="34" charset="-122"/>
                <a:cs typeface="Cambria" pitchFamily="34" charset="-120"/>
              </a:rPr>
              <a:t>Controls kept</a:t>
            </a:r>
            <a:endParaRPr lang="en-US" sz="2200" dirty="0"/>
          </a:p>
        </p:txBody>
      </p:sp>
      <p:sp>
        <p:nvSpPr>
          <p:cNvPr id="19" name="Text 17"/>
          <p:cNvSpPr txBox="1"/>
          <p:nvPr/>
        </p:nvSpPr>
        <p:spPr>
          <a:xfrm>
            <a:off x="5257800" y="3282696"/>
            <a:ext cx="4206240" cy="868680"/>
          </a:xfrm>
          <a:prstGeom prst="rect">
            <a:avLst/>
          </a:prstGeom>
          <a:noFill/>
          <a:ln/>
        </p:spPr>
        <p:txBody>
          <a:bodyPr wrap="square" lIns="0" tIns="0" rIns="0" bIns="0" rtlCol="0" anchor="ctr"/>
          <a:lstStyle/>
          <a:p>
            <a:pPr indent="0" marL="0">
              <a:buNone/>
            </a:pPr>
            <a:r>
              <a:rPr lang="en-US" sz="2000" dirty="0">
                <a:solidFill>
                  <a:srgbClr val="1F2A30"/>
                </a:solidFill>
                <a:latin typeface="Calibri" pitchFamily="34" charset="0"/>
                <a:ea typeface="Calibri" pitchFamily="34" charset="-122"/>
                <a:cs typeface="Calibri" pitchFamily="34" charset="-120"/>
              </a:rPr>
              <a:t>srf exact in (iii); never worse than linear</a:t>
            </a:r>
            <a:endParaRPr lang="en-US" sz="2000" dirty="0"/>
          </a:p>
        </p:txBody>
      </p:sp>
      <p:sp>
        <p:nvSpPr>
          <p:cNvPr id="20" name="Text 18"/>
          <p:cNvSpPr txBox="1"/>
          <p:nvPr/>
        </p:nvSpPr>
        <p:spPr>
          <a:xfrm>
            <a:off x="9509760" y="3282696"/>
            <a:ext cx="2103120" cy="868680"/>
          </a:xfrm>
          <a:prstGeom prst="rect">
            <a:avLst/>
          </a:prstGeom>
          <a:noFill/>
          <a:ln/>
        </p:spPr>
        <p:txBody>
          <a:bodyPr wrap="square" lIns="0" tIns="0" rIns="0" bIns="0" rtlCol="0" anchor="ctr"/>
          <a:lstStyle/>
          <a:p>
            <a:pPr algn="r" indent="0" marL="0">
              <a:buNone/>
            </a:pPr>
            <a:r>
              <a:rPr lang="en-US" sz="2200" b="1" dirty="0">
                <a:solidFill>
                  <a:srgbClr val="1B7F5A"/>
                </a:solidFill>
                <a:latin typeface="Cambria" pitchFamily="34" charset="0"/>
                <a:ea typeface="Cambria" pitchFamily="34" charset="-122"/>
                <a:cs typeface="Cambria" pitchFamily="34" charset="-120"/>
              </a:rPr>
              <a:t>Pass</a:t>
            </a:r>
            <a:endParaRPr lang="en-US" sz="2200" dirty="0"/>
          </a:p>
        </p:txBody>
      </p:sp>
      <p:sp>
        <p:nvSpPr>
          <p:cNvPr id="21" name="Shape 19"/>
          <p:cNvSpPr/>
          <p:nvPr/>
        </p:nvSpPr>
        <p:spPr>
          <a:xfrm>
            <a:off x="457200" y="4306824"/>
            <a:ext cx="11277295" cy="868680"/>
          </a:xfrm>
          <a:prstGeom prst="roundRect">
            <a:avLst>
              <a:gd name="adj" fmla="val 10526"/>
            </a:avLst>
          </a:prstGeom>
          <a:solidFill>
            <a:srgbClr val="E6F0F1"/>
          </a:solidFill>
          <a:ln w="12700">
            <a:solidFill>
              <a:srgbClr val="E6F0F1"/>
            </a:solidFill>
            <a:prstDash val="solid"/>
          </a:ln>
        </p:spPr>
      </p:sp>
      <p:sp>
        <p:nvSpPr>
          <p:cNvPr id="22" name="Shape 20"/>
          <p:cNvSpPr/>
          <p:nvPr/>
        </p:nvSpPr>
        <p:spPr>
          <a:xfrm>
            <a:off x="594360" y="4398264"/>
            <a:ext cx="685800" cy="685800"/>
          </a:xfrm>
          <a:prstGeom prst="ellipse">
            <a:avLst/>
          </a:prstGeom>
          <a:solidFill>
            <a:srgbClr val="D9542C"/>
          </a:solidFill>
          <a:ln w="12700">
            <a:solidFill>
              <a:srgbClr val="D9542C"/>
            </a:solidFill>
            <a:prstDash val="solid"/>
          </a:ln>
        </p:spPr>
      </p:sp>
      <p:sp>
        <p:nvSpPr>
          <p:cNvPr id="23" name="Text 21"/>
          <p:cNvSpPr txBox="1"/>
          <p:nvPr/>
        </p:nvSpPr>
        <p:spPr>
          <a:xfrm>
            <a:off x="594360" y="4398264"/>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4" name="Text 22"/>
          <p:cNvSpPr txBox="1"/>
          <p:nvPr/>
        </p:nvSpPr>
        <p:spPr>
          <a:xfrm>
            <a:off x="1463040" y="4306824"/>
            <a:ext cx="3749040" cy="868680"/>
          </a:xfrm>
          <a:prstGeom prst="rect">
            <a:avLst/>
          </a:prstGeom>
          <a:noFill/>
          <a:ln/>
        </p:spPr>
        <p:txBody>
          <a:bodyPr wrap="square" lIns="0" tIns="0" rIns="0" bIns="0" rtlCol="0" anchor="ctr"/>
          <a:lstStyle/>
          <a:p>
            <a:pPr indent="0" marL="0">
              <a:buNone/>
            </a:pPr>
            <a:r>
              <a:rPr lang="en-US" sz="2200" b="1" dirty="0">
                <a:solidFill>
                  <a:srgbClr val="1F2A30"/>
                </a:solidFill>
                <a:latin typeface="Cambria" pitchFamily="34" charset="0"/>
                <a:ea typeface="Cambria" pitchFamily="34" charset="-122"/>
                <a:cs typeface="Cambria" pitchFamily="34" charset="-120"/>
              </a:rPr>
              <a:t>Does eq. 14 alone pass (iii)?</a:t>
            </a:r>
            <a:endParaRPr lang="en-US" sz="2200" dirty="0"/>
          </a:p>
        </p:txBody>
      </p:sp>
      <p:sp>
        <p:nvSpPr>
          <p:cNvPr id="25" name="Text 23"/>
          <p:cNvSpPr txBox="1"/>
          <p:nvPr/>
        </p:nvSpPr>
        <p:spPr>
          <a:xfrm>
            <a:off x="5257800" y="4306824"/>
            <a:ext cx="4206240" cy="868680"/>
          </a:xfrm>
          <a:prstGeom prst="rect">
            <a:avLst/>
          </a:prstGeom>
          <a:noFill/>
          <a:ln/>
        </p:spPr>
        <p:txBody>
          <a:bodyPr wrap="square" lIns="0" tIns="0" rIns="0" bIns="0" rtlCol="0" anchor="ctr"/>
          <a:lstStyle/>
          <a:p>
            <a:pPr indent="0" marL="0">
              <a:buNone/>
            </a:pPr>
            <a:r>
              <a:rPr lang="en-US" sz="2000" dirty="0">
                <a:solidFill>
                  <a:srgbClr val="1F2A30"/>
                </a:solidFill>
                <a:latin typeface="Calibri" pitchFamily="34" charset="0"/>
                <a:ea typeface="Calibri" pitchFamily="34" charset="-122"/>
                <a:cs typeface="Calibri" pitchFamily="34" charset="-120"/>
              </a:rPr>
              <a:t>0 % in (ii), −6 % in (iii)</a:t>
            </a:r>
            <a:endParaRPr lang="en-US" sz="2000" dirty="0"/>
          </a:p>
        </p:txBody>
      </p:sp>
      <p:sp>
        <p:nvSpPr>
          <p:cNvPr id="26" name="Text 24"/>
          <p:cNvSpPr txBox="1"/>
          <p:nvPr/>
        </p:nvSpPr>
        <p:spPr>
          <a:xfrm>
            <a:off x="9509760" y="4306824"/>
            <a:ext cx="2103120" cy="868680"/>
          </a:xfrm>
          <a:prstGeom prst="rect">
            <a:avLst/>
          </a:prstGeom>
          <a:noFill/>
          <a:ln/>
        </p:spPr>
        <p:txBody>
          <a:bodyPr wrap="square" lIns="0" tIns="0" rIns="0" bIns="0" rtlCol="0" anchor="ctr"/>
          <a:lstStyle/>
          <a:p>
            <a:pPr algn="r" indent="0" marL="0">
              <a:buNone/>
            </a:pPr>
            <a:r>
              <a:rPr lang="en-US" sz="2200" b="1" dirty="0">
                <a:solidFill>
                  <a:srgbClr val="D9542C"/>
                </a:solidFill>
                <a:latin typeface="Cambria" pitchFamily="34" charset="0"/>
                <a:ea typeface="Cambria" pitchFamily="34" charset="-122"/>
                <a:cs typeface="Cambria" pitchFamily="34" charset="-120"/>
              </a:rPr>
              <a:t>No: H2 needed</a:t>
            </a:r>
            <a:endParaRPr lang="en-US" sz="2200" dirty="0"/>
          </a:p>
        </p:txBody>
      </p:sp>
      <p:sp>
        <p:nvSpPr>
          <p:cNvPr id="27" name="Shape 25"/>
          <p:cNvSpPr/>
          <p:nvPr/>
        </p:nvSpPr>
        <p:spPr>
          <a:xfrm>
            <a:off x="457200" y="5440680"/>
            <a:ext cx="11277295" cy="914400"/>
          </a:xfrm>
          <a:prstGeom prst="roundRect">
            <a:avLst>
              <a:gd name="adj" fmla="val 10000"/>
            </a:avLst>
          </a:prstGeom>
          <a:solidFill>
            <a:srgbClr val="0B2545"/>
          </a:solidFill>
          <a:ln w="12700">
            <a:solidFill>
              <a:srgbClr val="0B2545"/>
            </a:solidFill>
            <a:prstDash val="solid"/>
          </a:ln>
        </p:spPr>
      </p:sp>
      <p:sp>
        <p:nvSpPr>
          <p:cNvPr id="28" name="Text 26"/>
          <p:cNvSpPr txBox="1"/>
          <p:nvPr/>
        </p:nvSpPr>
        <p:spPr>
          <a:xfrm>
            <a:off x="731520" y="5440680"/>
            <a:ext cx="10728655" cy="9144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Phase 2 default: srf where FWHM_L − FWHM_E ≥ 0.15 nm, linear otherwise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11277295" cy="777240"/>
          </a:xfrm>
          <a:prstGeom prst="rect">
            <a:avLst/>
          </a:prstGeom>
          <a:noFill/>
          <a:ln/>
        </p:spPr>
        <p:txBody>
          <a:bodyPr wrap="square" lIns="0" tIns="0" rIns="0" bIns="0" rtlCol="0" anchor="ctr"/>
          <a:lstStyle/>
          <a:p>
            <a:pPr indent="0" marL="0">
              <a:buNone/>
            </a:pPr>
            <a:r>
              <a:rPr lang="en-US" sz="3400" b="1" dirty="0">
                <a:solidFill>
                  <a:srgbClr val="0B2545"/>
                </a:solidFill>
                <a:latin typeface="Cambria" pitchFamily="34" charset="0"/>
                <a:ea typeface="Cambria" pitchFamily="34" charset="-122"/>
                <a:cs typeface="Cambria" pitchFamily="34" charset="-120"/>
              </a:rPr>
              <a:t>Open concerns and next steps</a:t>
            </a:r>
            <a:endParaRPr lang="en-US" sz="3400" dirty="0"/>
          </a:p>
        </p:txBody>
      </p:sp>
      <p:sp>
        <p:nvSpPr>
          <p:cNvPr id="3" name="Shape 1"/>
          <p:cNvSpPr/>
          <p:nvPr/>
        </p:nvSpPr>
        <p:spPr>
          <a:xfrm>
            <a:off x="457200" y="1234440"/>
            <a:ext cx="5394960" cy="4206240"/>
          </a:xfrm>
          <a:prstGeom prst="roundRect">
            <a:avLst>
              <a:gd name="adj" fmla="val 2609"/>
            </a:avLst>
          </a:prstGeom>
          <a:solidFill>
            <a:srgbClr val="E6F0F1"/>
          </a:solidFill>
          <a:ln w="12700">
            <a:solidFill>
              <a:srgbClr val="E6F0F1"/>
            </a:solidFill>
            <a:prstDash val="solid"/>
          </a:ln>
        </p:spPr>
      </p:sp>
      <p:sp>
        <p:nvSpPr>
          <p:cNvPr id="4" name="Text 2"/>
          <p:cNvSpPr txBox="1"/>
          <p:nvPr/>
        </p:nvSpPr>
        <p:spPr>
          <a:xfrm>
            <a:off x="731520" y="1371600"/>
            <a:ext cx="4846320" cy="640080"/>
          </a:xfrm>
          <a:prstGeom prst="rect">
            <a:avLst/>
          </a:prstGeom>
          <a:noFill/>
          <a:ln/>
        </p:spPr>
        <p:txBody>
          <a:bodyPr wrap="square" lIns="0" tIns="0" rIns="0" bIns="0" rtlCol="0" anchor="ctr"/>
          <a:lstStyle/>
          <a:p>
            <a:pPr indent="0" marL="0">
              <a:buNone/>
            </a:pPr>
            <a:r>
              <a:rPr lang="en-US" sz="2600" b="1" dirty="0">
                <a:solidFill>
                  <a:srgbClr val="D9542C"/>
                </a:solidFill>
                <a:latin typeface="Cambria" pitchFamily="34" charset="0"/>
                <a:ea typeface="Cambria" pitchFamily="34" charset="-122"/>
                <a:cs typeface="Cambria" pitchFamily="34" charset="-120"/>
              </a:rPr>
              <a:t>Open concerns</a:t>
            </a:r>
            <a:endParaRPr lang="en-US" sz="2600" dirty="0"/>
          </a:p>
        </p:txBody>
      </p:sp>
      <p:sp>
        <p:nvSpPr>
          <p:cNvPr id="5" name="Text 3"/>
          <p:cNvSpPr txBox="1"/>
          <p:nvPr/>
        </p:nvSpPr>
        <p:spPr>
          <a:xfrm>
            <a:off x="731520" y="2148840"/>
            <a:ext cx="4846320" cy="3200400"/>
          </a:xfrm>
          <a:prstGeom prst="rect">
            <a:avLst/>
          </a:prstGeom>
          <a:noFill/>
          <a:ln/>
        </p:spPr>
        <p:txBody>
          <a:bodyPr wrap="square" lIns="635" tIns="635" rIns="635" bIns="635" rtlCol="0" anchor="t"/>
          <a:lstStyle/>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E wavelength scale: the binding requirement</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E SRFs need the L1A delivery (L2 widths read ~0.1 nm wide)</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Gaussian SRFs only; Ring and the Lu NIR excess are outside the twin</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The E ≈ L floor is still unexplained</a:t>
            </a:r>
            <a:endParaRPr lang="en-US" sz="2200" dirty="0"/>
          </a:p>
        </p:txBody>
      </p:sp>
      <p:sp>
        <p:nvSpPr>
          <p:cNvPr id="6" name="Shape 4"/>
          <p:cNvSpPr/>
          <p:nvPr/>
        </p:nvSpPr>
        <p:spPr>
          <a:xfrm>
            <a:off x="6217920" y="1234440"/>
            <a:ext cx="5394960" cy="4206240"/>
          </a:xfrm>
          <a:prstGeom prst="roundRect">
            <a:avLst>
              <a:gd name="adj" fmla="val 2609"/>
            </a:avLst>
          </a:prstGeom>
          <a:solidFill>
            <a:srgbClr val="E6F0F1"/>
          </a:solidFill>
          <a:ln w="12700">
            <a:solidFill>
              <a:srgbClr val="E6F0F1"/>
            </a:solidFill>
            <a:prstDash val="solid"/>
          </a:ln>
        </p:spPr>
      </p:sp>
      <p:sp>
        <p:nvSpPr>
          <p:cNvPr id="7" name="Text 5"/>
          <p:cNvSpPr txBox="1"/>
          <p:nvPr/>
        </p:nvSpPr>
        <p:spPr>
          <a:xfrm>
            <a:off x="6492240" y="1371600"/>
            <a:ext cx="4846320" cy="640080"/>
          </a:xfrm>
          <a:prstGeom prst="rect">
            <a:avLst/>
          </a:prstGeom>
          <a:noFill/>
          <a:ln/>
        </p:spPr>
        <p:txBody>
          <a:bodyPr wrap="square" lIns="0" tIns="0" rIns="0" bIns="0" rtlCol="0" anchor="ctr"/>
          <a:lstStyle/>
          <a:p>
            <a:pPr indent="0" marL="0">
              <a:buNone/>
            </a:pPr>
            <a:r>
              <a:rPr lang="en-US" sz="2600" b="1" dirty="0">
                <a:solidFill>
                  <a:srgbClr val="13505B"/>
                </a:solidFill>
                <a:latin typeface="Cambria" pitchFamily="34" charset="0"/>
                <a:ea typeface="Cambria" pitchFamily="34" charset="-122"/>
                <a:cs typeface="Cambria" pitchFamily="34" charset="-120"/>
              </a:rPr>
              <a:t>Phase 2</a:t>
            </a:r>
            <a:endParaRPr lang="en-US" sz="2600" dirty="0"/>
          </a:p>
        </p:txBody>
      </p:sp>
      <p:sp>
        <p:nvSpPr>
          <p:cNvPr id="8" name="Text 6"/>
          <p:cNvSpPr txBox="1"/>
          <p:nvPr/>
        </p:nvSpPr>
        <p:spPr>
          <a:xfrm>
            <a:off x="6492240" y="2148840"/>
            <a:ext cx="4846320" cy="3200400"/>
          </a:xfrm>
          <a:prstGeom prst="rect">
            <a:avLst/>
          </a:prstGeom>
          <a:noFill/>
          <a:ln/>
        </p:spPr>
        <p:txBody>
          <a:bodyPr wrap="square" lIns="635" tIns="635" rIns="635" bIns="635" rtlCol="0" anchor="t"/>
          <a:lstStyle/>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Harden interpolate_ed_to_l, with the 0.15 nm rule</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Fit E's wavelength shift and stretch (task 4b)</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SRF table, punpy uncertainties, processor snippet</a:t>
            </a:r>
            <a:endParaRPr lang="en-US" sz="2200" dirty="0"/>
          </a:p>
          <a:p>
            <a:pPr marL="342900" indent="-342900">
              <a:spcAft>
                <a:spcPts val="1200"/>
              </a:spcAft>
              <a:buSzPct val="100000"/>
              <a:buChar char="•"/>
            </a:pPr>
            <a:r>
              <a:rPr lang="en-US" sz="2200" dirty="0">
                <a:solidFill>
                  <a:srgbClr val="1F2A30"/>
                </a:solidFill>
                <a:latin typeface="Calibri" pitchFamily="34" charset="0"/>
                <a:ea typeface="Calibri" pitchFamily="34" charset="-122"/>
                <a:cs typeface="Calibri" pitchFamily="34" charset="-120"/>
              </a:rPr>
              <a:t>Non-Gaussian SRF twin check (task 9b)</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WATERHYPERNET wiggles: Phase 1, the twin experiment</dc:title>
  <dc:subject>PptxGenJS Presentation</dc:subject>
  <dc:creator>J. Xavier Prochaska</dc:creator>
  <cp:lastModifiedBy>J. Xavier Prochaska</cp:lastModifiedBy>
  <cp:revision>1</cp:revision>
  <dcterms:created xsi:type="dcterms:W3CDTF">2026-10-05T20:25:19Z</dcterms:created>
  <dcterms:modified xsi:type="dcterms:W3CDTF">2026-10-05T20:25:19Z</dcterms:modified>
</cp:coreProperties>
</file>